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492" r:id="rId3"/>
    <p:sldId id="2147470498" r:id="rId4"/>
    <p:sldId id="2147470499" r:id="rId5"/>
    <p:sldId id="2147470500" r:id="rId6"/>
    <p:sldId id="2147470501" r:id="rId7"/>
    <p:sldId id="2147470502" r:id="rId8"/>
    <p:sldId id="2147470503" r:id="rId9"/>
    <p:sldId id="2147470504" r:id="rId10"/>
    <p:sldId id="2147470505" r:id="rId11"/>
    <p:sldId id="2147470506" r:id="rId12"/>
    <p:sldId id="2147470507" r:id="rId13"/>
    <p:sldId id="2147470508" r:id="rId14"/>
    <p:sldId id="2147470509" r:id="rId15"/>
    <p:sldId id="2147470510" r:id="rId16"/>
    <p:sldId id="2147470511" r:id="rId17"/>
    <p:sldId id="2147470512" r:id="rId18"/>
    <p:sldId id="2147470513" r:id="rId19"/>
    <p:sldId id="2147470514" r:id="rId20"/>
    <p:sldId id="2147470515" r:id="rId21"/>
    <p:sldId id="2147470516" r:id="rId22"/>
    <p:sldId id="2147470517" r:id="rId23"/>
    <p:sldId id="2147470518" r:id="rId24"/>
    <p:sldId id="2147470519" r:id="rId25"/>
    <p:sldId id="2147470520" r:id="rId26"/>
    <p:sldId id="2147470521" r:id="rId27"/>
    <p:sldId id="2147470522" r:id="rId28"/>
    <p:sldId id="2147470523" r:id="rId29"/>
    <p:sldId id="2147470524" r:id="rId30"/>
    <p:sldId id="2147470525" r:id="rId31"/>
    <p:sldId id="2147470526" r:id="rId32"/>
    <p:sldId id="2147470527" r:id="rId33"/>
    <p:sldId id="2147470528" r:id="rId34"/>
    <p:sldId id="2147470529" r:id="rId35"/>
    <p:sldId id="2147470530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4E79"/>
    <a:srgbClr val="FFFFFF"/>
    <a:srgbClr val="25B9ED"/>
    <a:srgbClr val="47BDAE"/>
    <a:srgbClr val="30BBDA"/>
    <a:srgbClr val="47BDAF"/>
    <a:srgbClr val="696969"/>
    <a:srgbClr val="1C4D98"/>
    <a:srgbClr val="8BC431"/>
    <a:srgbClr val="97B6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36" d="100"/>
          <a:sy n="36" d="100"/>
        </p:scale>
        <p:origin x="115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gisrrj.com/paper.php?id=GISRRJ236136" TargetMode="External"/><Relationship Id="rId2" Type="http://schemas.openxmlformats.org/officeDocument/2006/relationships/hyperlink" Target="https://gisrrj.com/paper/GISRRJ236136.pdf" TargetMode="Externa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1"/>
            <a:ext cx="12254538" cy="6887838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617257" y="32106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3162886" y="1090231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555751" y="1295895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VIT Vellore and LTM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381908" y="1612785"/>
            <a:ext cx="11428184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36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Project Title</a:t>
            </a:r>
          </a:p>
          <a:p>
            <a:pPr lvl="0" algn="ctr"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RAG-Powered Vendor Compliance Auditor</a:t>
            </a: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Team Member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Daniel Robin – T9925</a:t>
            </a: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81724" y="1425857"/>
            <a:ext cx="10624338" cy="4465275"/>
          </a:xfrm>
        </p:spPr>
        <p:txBody>
          <a:bodyPr/>
          <a:lstStyle/>
          <a:p>
            <a:pPr algn="just" fontAlgn="t">
              <a:buNone/>
            </a:pPr>
            <a:r>
              <a:rPr lang="en-IN" b="0" dirty="0"/>
              <a:t>The </a:t>
            </a:r>
            <a:r>
              <a:rPr lang="en-IN" dirty="0">
                <a:solidFill>
                  <a:srgbClr val="1F4E79"/>
                </a:solidFill>
              </a:rPr>
              <a:t>RAG-Powered Vendor Compliance Auditor</a:t>
            </a:r>
            <a:r>
              <a:rPr lang="en-IN" b="0" dirty="0">
                <a:solidFill>
                  <a:srgbClr val="1F4E79"/>
                </a:solidFill>
              </a:rPr>
              <a:t> </a:t>
            </a:r>
            <a:r>
              <a:rPr lang="en-IN" b="0" dirty="0"/>
              <a:t>is a simple AI-based application that helps review vendor contracts against organizational compliance policies. It uses Retrieval-Augmented Generation (RAG) to retrieve relevant clauses and generate evidence-based compliance findings while protecting sensitive information through PII redaction. </a:t>
            </a:r>
          </a:p>
          <a:p>
            <a:pPr algn="just" fontAlgn="t">
              <a:buNone/>
            </a:pPr>
            <a:endParaRPr lang="en-IN" b="0" dirty="0"/>
          </a:p>
          <a:p>
            <a:pPr fontAlgn="t">
              <a:buNone/>
            </a:pPr>
            <a:r>
              <a:rPr lang="en-IN" dirty="0">
                <a:solidFill>
                  <a:srgbClr val="1F4E79"/>
                </a:solidFill>
              </a:rPr>
              <a:t>Key Technologies:</a:t>
            </a:r>
            <a:r>
              <a:rPr lang="en-IN" b="0" dirty="0">
                <a:solidFill>
                  <a:srgbClr val="1F4E79"/>
                </a:solidFill>
              </a:rPr>
              <a:t> </a:t>
            </a:r>
            <a:r>
              <a:rPr lang="en-IN" b="0" dirty="0" err="1"/>
              <a:t>Streamlit</a:t>
            </a:r>
            <a:r>
              <a:rPr lang="en-IN" b="0" dirty="0"/>
              <a:t>, Presidio, </a:t>
            </a:r>
            <a:r>
              <a:rPr lang="en-IN" b="0" dirty="0" err="1"/>
              <a:t>spaCy</a:t>
            </a:r>
            <a:r>
              <a:rPr lang="en-IN" b="0" dirty="0"/>
              <a:t>, </a:t>
            </a:r>
            <a:r>
              <a:rPr lang="en-IN" b="0" dirty="0" err="1"/>
              <a:t>Ollama</a:t>
            </a:r>
            <a:r>
              <a:rPr lang="en-IN" b="0" dirty="0"/>
              <a:t>, </a:t>
            </a:r>
            <a:r>
              <a:rPr lang="en-IN" b="0" dirty="0" err="1"/>
              <a:t>ChromaDB</a:t>
            </a:r>
            <a:r>
              <a:rPr lang="en-IN" b="0" dirty="0"/>
              <a:t>, and RAG.</a:t>
            </a:r>
          </a:p>
          <a:p>
            <a:pPr fontAlgn="t">
              <a:buNone/>
            </a:pPr>
            <a:r>
              <a:rPr lang="en-IN" dirty="0">
                <a:solidFill>
                  <a:srgbClr val="1F4E79"/>
                </a:solidFill>
              </a:rPr>
              <a:t>Purpose:</a:t>
            </a:r>
            <a:r>
              <a:rPr lang="en-IN" b="0" dirty="0"/>
              <a:t> To demonstrate an end-to-end AI-powered compliance auditing workflow using synthetic contract data.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RAG-Powered Vendor Compliance Auditor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E87C4-5BCF-A01F-92B2-8B3F37759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90CEB3C-9EB5-981E-701C-F40E6CE47DA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29850" y="1202553"/>
            <a:ext cx="10624338" cy="5139832"/>
          </a:xfrm>
        </p:spPr>
        <p:txBody>
          <a:bodyPr/>
          <a:lstStyle/>
          <a:p>
            <a:pPr algn="just" fontAlgn="t">
              <a:buNone/>
            </a:pPr>
            <a:r>
              <a:rPr lang="en-IN" dirty="0">
                <a:solidFill>
                  <a:srgbClr val="1F4E79"/>
                </a:solidFill>
              </a:rPr>
              <a:t>Problem Statement</a:t>
            </a:r>
          </a:p>
          <a:p>
            <a:pPr algn="just" fontAlgn="t">
              <a:buNone/>
            </a:pPr>
            <a:r>
              <a:rPr lang="en-IN" b="0" dirty="0"/>
              <a:t>Organizations regularly review vendor contracts such as MSAs and SLAs to ensure compliance with internal security and privacy policies.</a:t>
            </a:r>
          </a:p>
          <a:p>
            <a:pPr algn="just" fontAlgn="t">
              <a:buNone/>
            </a:pPr>
            <a:r>
              <a:rPr lang="en-IN" b="0" dirty="0"/>
              <a:t>Manual contract review is time-consuming, inconsistent, and may overlook important risks.</a:t>
            </a:r>
          </a:p>
          <a:p>
            <a:pPr algn="just" fontAlgn="t">
              <a:buNone/>
            </a:pPr>
            <a:r>
              <a:rPr lang="en-IN" dirty="0">
                <a:solidFill>
                  <a:srgbClr val="1F4E79"/>
                </a:solidFill>
              </a:rPr>
              <a:t>Motivation</a:t>
            </a:r>
          </a:p>
          <a:p>
            <a:pPr marL="342900" lvl="0" indent="-342900" algn="just" fontAlgn="t"/>
            <a:r>
              <a:rPr lang="en-IN" b="0" dirty="0"/>
              <a:t>Reduce effort required for contract compliance reviews.</a:t>
            </a:r>
          </a:p>
          <a:p>
            <a:pPr marL="342900" lvl="0" indent="-342900" algn="just" fontAlgn="t"/>
            <a:r>
              <a:rPr lang="en-IN" b="0" dirty="0"/>
              <a:t>Improve consistency in identifying policy violations.</a:t>
            </a:r>
          </a:p>
          <a:p>
            <a:pPr marL="342900" lvl="0" indent="-342900" algn="just" fontAlgn="t"/>
            <a:r>
              <a:rPr lang="en-IN" b="0" dirty="0"/>
              <a:t>Provide evidence-backed compliance findings.</a:t>
            </a:r>
          </a:p>
          <a:p>
            <a:pPr marL="342900" lvl="0" indent="-342900" algn="just" fontAlgn="t"/>
            <a:r>
              <a:rPr lang="en-IN" b="0" dirty="0"/>
              <a:t>Demonstrate how RAG (Retrieval-Augmented Generation) can support compliance auditing.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F7F1F2-1FBD-C533-09A4-3FD1A90CD47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Problem Statement &amp; Motivation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85755D7-06E9-853F-2391-870843D83956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17CDFAD0-4538-FBC5-F736-1CD12135EEA9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RAG-Powered Vendor Compliance Auditor</a:t>
            </a:r>
          </a:p>
        </p:txBody>
      </p:sp>
    </p:spTree>
    <p:extLst>
      <p:ext uri="{BB962C8B-B14F-4D97-AF65-F5344CB8AC3E}">
        <p14:creationId xmlns:p14="http://schemas.microsoft.com/office/powerpoint/2010/main" val="2873894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2C4E0-DDEC-91A5-6FCB-F9C2135A9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08BF6E0-34C5-1CDF-C581-F6F957843EB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5655" y="1234637"/>
            <a:ext cx="10776475" cy="5139832"/>
          </a:xfrm>
        </p:spPr>
        <p:txBody>
          <a:bodyPr/>
          <a:lstStyle/>
          <a:p>
            <a:pPr algn="just" fontAlgn="t">
              <a:buNone/>
            </a:pPr>
            <a:r>
              <a:rPr lang="en-IN" dirty="0">
                <a:solidFill>
                  <a:srgbClr val="1F4E79"/>
                </a:solidFill>
              </a:rPr>
              <a:t>Project Objectives</a:t>
            </a:r>
          </a:p>
          <a:p>
            <a:pPr marL="342900" lvl="0" indent="-342900" algn="just" fontAlgn="t"/>
            <a:r>
              <a:rPr lang="en-IN" b="0" dirty="0"/>
              <a:t>Upload and process vendor contract documents.</a:t>
            </a:r>
          </a:p>
          <a:p>
            <a:pPr marL="342900" lvl="0" indent="-342900" algn="just" fontAlgn="t"/>
            <a:r>
              <a:rPr lang="en-IN" b="0" dirty="0"/>
              <a:t>Extract contract text and metadata from PDF files.</a:t>
            </a:r>
          </a:p>
          <a:p>
            <a:pPr marL="342900" lvl="0" indent="-342900" algn="just" fontAlgn="t"/>
            <a:r>
              <a:rPr lang="en-IN" b="0" dirty="0"/>
              <a:t>Detect and redact sensitive information using Presidio and </a:t>
            </a:r>
            <a:r>
              <a:rPr lang="en-IN" b="0" dirty="0" err="1"/>
              <a:t>spaCy</a:t>
            </a:r>
            <a:r>
              <a:rPr lang="en-IN" b="0" dirty="0"/>
              <a:t>.</a:t>
            </a:r>
          </a:p>
          <a:p>
            <a:pPr marL="342900" lvl="0" indent="-342900" algn="just" fontAlgn="t"/>
            <a:r>
              <a:rPr lang="en-IN" b="0" dirty="0"/>
              <a:t>Generate embeddings and store contract chunks in a vector database.</a:t>
            </a:r>
          </a:p>
          <a:p>
            <a:pPr marL="342900" lvl="0" indent="-342900" algn="just" fontAlgn="t"/>
            <a:r>
              <a:rPr lang="en-IN" b="0" dirty="0"/>
              <a:t>Retrieve relevant clauses for policy verification.</a:t>
            </a:r>
          </a:p>
          <a:p>
            <a:pPr marL="342900" lvl="0" indent="-342900" algn="just" fontAlgn="t"/>
            <a:r>
              <a:rPr lang="en-IN" b="0" dirty="0"/>
              <a:t>Use a local LLM to generate compliance findings.</a:t>
            </a:r>
          </a:p>
          <a:p>
            <a:pPr marL="342900" lvl="0" indent="-342900" algn="just" fontAlgn="t"/>
            <a:r>
              <a:rPr lang="en-IN" b="0" dirty="0"/>
              <a:t>Present audit results with supporting evidence and recommendations.</a:t>
            </a:r>
          </a:p>
          <a:p>
            <a:pPr algn="just" fontAlgn="t">
              <a:buNone/>
            </a:pPr>
            <a:r>
              <a:rPr lang="en-IN" dirty="0">
                <a:solidFill>
                  <a:srgbClr val="1F4E79"/>
                </a:solidFill>
              </a:rPr>
              <a:t>Expected Outcome: </a:t>
            </a:r>
            <a:r>
              <a:rPr lang="en-IN" b="0" dirty="0"/>
              <a:t>A simple local-first application that demonstrates an AI-assisted compliance auditing workflow.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B15DF9-FEC1-6033-766C-3D1AB28C189A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Project Objectives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A43BBE8-1C3B-2365-7791-E88E5D603B5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D97E32D-C08D-D20C-22B0-73F13BF149E9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RAG-Powered Vendor Compliance Auditor</a:t>
            </a:r>
          </a:p>
        </p:txBody>
      </p:sp>
    </p:spTree>
    <p:extLst>
      <p:ext uri="{BB962C8B-B14F-4D97-AF65-F5344CB8AC3E}">
        <p14:creationId xmlns:p14="http://schemas.microsoft.com/office/powerpoint/2010/main" val="946525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0B9F4-3BFA-67EA-14AC-41C465FE6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191E96C-5B37-2C89-0273-243FBF5B8A4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9869" y="1519450"/>
            <a:ext cx="5388238" cy="5139832"/>
          </a:xfrm>
        </p:spPr>
        <p:txBody>
          <a:bodyPr/>
          <a:lstStyle/>
          <a:p>
            <a:pPr fontAlgn="t">
              <a:buNone/>
            </a:pPr>
            <a:r>
              <a:rPr lang="en-IN" dirty="0">
                <a:solidFill>
                  <a:srgbClr val="1F4E79"/>
                </a:solidFill>
              </a:rPr>
              <a:t>Included</a:t>
            </a:r>
            <a:endParaRPr lang="en-IN" b="0" dirty="0">
              <a:solidFill>
                <a:srgbClr val="1F4E79"/>
              </a:solidFill>
            </a:endParaRPr>
          </a:p>
          <a:p>
            <a:pPr marL="342900" lvl="0" indent="-342900" fontAlgn="t"/>
            <a:r>
              <a:rPr lang="en-IN" b="0" dirty="0"/>
              <a:t>PDF contract upload</a:t>
            </a:r>
          </a:p>
          <a:p>
            <a:pPr marL="342900" marR="0" lvl="0" indent="-342900" algn="l" defTabSz="914400" rtl="0" eaLnBrk="1" fontAlgn="t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Streamlit</a:t>
            </a: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 dashboard for results</a:t>
            </a:r>
          </a:p>
          <a:p>
            <a:pPr marL="342900" lvl="0" indent="-342900" fontAlgn="t"/>
            <a:r>
              <a:rPr lang="en-IN" b="0" dirty="0"/>
              <a:t>PII detection and redaction</a:t>
            </a:r>
          </a:p>
          <a:p>
            <a:pPr marL="342900" lvl="0" indent="-342900" fontAlgn="t"/>
            <a:r>
              <a:rPr lang="en-IN" b="0" dirty="0"/>
              <a:t>Contract chunking</a:t>
            </a:r>
          </a:p>
          <a:p>
            <a:pPr marL="342900" lvl="0" indent="-342900" fontAlgn="t"/>
            <a:r>
              <a:rPr lang="en-IN" b="0" dirty="0" err="1"/>
              <a:t>ChromaDB</a:t>
            </a:r>
            <a:r>
              <a:rPr lang="en-IN" b="0" dirty="0"/>
              <a:t> storage and retrieval</a:t>
            </a:r>
          </a:p>
          <a:p>
            <a:pPr marL="342900" lvl="0" indent="-342900" fontAlgn="t"/>
            <a:r>
              <a:rPr lang="en-IN" b="0" dirty="0"/>
              <a:t>Compliance assessment against sample policies</a:t>
            </a:r>
          </a:p>
          <a:p>
            <a:pPr marL="0" lvl="0" indent="0" fontAlgn="t">
              <a:buNone/>
            </a:pPr>
            <a:endParaRPr lang="en-IN" b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34D23C-71A8-1C92-82C5-7486D3F7989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Scope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B0EFB08-CCE3-17B7-72F8-4DB3C6990056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10B83A4-9DC4-E223-A565-35EFFB5A29F4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RAG-Powered Vendor Compliance Auditor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35FCC9CC-5668-0BE4-15E1-4684080D88DD}"/>
              </a:ext>
            </a:extLst>
          </p:cNvPr>
          <p:cNvSpPr txBox="1">
            <a:spLocks/>
          </p:cNvSpPr>
          <p:nvPr/>
        </p:nvSpPr>
        <p:spPr>
          <a:xfrm>
            <a:off x="6093893" y="1519450"/>
            <a:ext cx="5388238" cy="513983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t">
              <a:buNone/>
            </a:pPr>
            <a:r>
              <a:rPr lang="en-IN" dirty="0">
                <a:solidFill>
                  <a:srgbClr val="1F4E79"/>
                </a:solidFill>
              </a:rPr>
              <a:t>Out of Scope</a:t>
            </a:r>
          </a:p>
          <a:p>
            <a:pPr fontAlgn="t"/>
            <a:r>
              <a:rPr lang="en-IN" b="0" dirty="0"/>
              <a:t>Large-scale datasets</a:t>
            </a:r>
            <a:endParaRPr lang="en-IN" dirty="0"/>
          </a:p>
          <a:p>
            <a:pPr fontAlgn="t"/>
            <a:r>
              <a:rPr lang="en-IN" b="0" dirty="0"/>
              <a:t>OCR and scanned documents</a:t>
            </a:r>
            <a:endParaRPr lang="en-IN" dirty="0"/>
          </a:p>
          <a:p>
            <a:pPr fontAlgn="t"/>
            <a:r>
              <a:rPr lang="en-IN" b="0" dirty="0"/>
              <a:t>Enterprise security integrations</a:t>
            </a:r>
            <a:endParaRPr lang="en-IN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871042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93111-B55C-85BE-709D-EB5CFA73B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DE8D59-DF52-4586-0ECA-9CE810C08AB9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Proposed Timeline (4 Weeks)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5AC4886-E7F0-3090-2A7D-B47FE8BFACAD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2A4B3A1-DDC5-DBE4-0959-316CEA548FED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RAG-Powered Vendor Compliance Auditor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A62C879-1DD6-063A-FC1D-BAB41CD4E0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8088924"/>
              </p:ext>
            </p:extLst>
          </p:nvPr>
        </p:nvGraphicFramePr>
        <p:xfrm>
          <a:off x="591618" y="2488533"/>
          <a:ext cx="11004550" cy="18809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2275">
                  <a:extLst>
                    <a:ext uri="{9D8B030D-6E8A-4147-A177-3AD203B41FA5}">
                      <a16:colId xmlns:a16="http://schemas.microsoft.com/office/drawing/2014/main" val="1619834262"/>
                    </a:ext>
                  </a:extLst>
                </a:gridCol>
                <a:gridCol w="5502275">
                  <a:extLst>
                    <a:ext uri="{9D8B030D-6E8A-4147-A177-3AD203B41FA5}">
                      <a16:colId xmlns:a16="http://schemas.microsoft.com/office/drawing/2014/main" val="19392536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effectLst/>
                        </a:rPr>
                        <a:t>Week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effectLst/>
                        </a:rPr>
                        <a:t>Activity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42356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Week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UI development and mock workflow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7235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Week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Data extraction, redaction, and chunking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54092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Week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Embeddings, retrieval, and compliance analysis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08805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Week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ct val="119048"/>
                        </a:lnSpc>
                        <a:buNone/>
                      </a:pPr>
                      <a:r>
                        <a:rPr lang="en-IN" dirty="0">
                          <a:effectLst/>
                        </a:rPr>
                        <a:t>Testing, documentation, and presentation preparation</a:t>
                      </a:r>
                      <a:endParaRPr lang="en-IN" sz="1050" b="0" i="0" dirty="0">
                        <a:effectLst/>
                        <a:latin typeface="Segoe UI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86808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0942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513A5-3AEC-15C7-BC4E-8E1878FB5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7CE1CEB-1631-6EC7-BD1E-BF2BED47CD3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5654" y="3063824"/>
            <a:ext cx="5855566" cy="3536594"/>
          </a:xfrm>
        </p:spPr>
        <p:txBody>
          <a:bodyPr/>
          <a:lstStyle/>
          <a:p>
            <a:pPr fontAlgn="t">
              <a:lnSpc>
                <a:spcPct val="70000"/>
              </a:lnSpc>
              <a:buNone/>
            </a:pPr>
            <a:r>
              <a:rPr lang="en-IN" dirty="0">
                <a:solidFill>
                  <a:srgbClr val="1F4E79"/>
                </a:solidFill>
              </a:rPr>
              <a:t>Data Understanding</a:t>
            </a:r>
          </a:p>
          <a:p>
            <a:pPr fontAlgn="t">
              <a:lnSpc>
                <a:spcPct val="70000"/>
              </a:lnSpc>
              <a:buNone/>
            </a:pPr>
            <a:r>
              <a:rPr lang="en-IN" b="0" dirty="0"/>
              <a:t>Contract data contains:</a:t>
            </a:r>
          </a:p>
          <a:p>
            <a:pPr marL="342900" lvl="0" indent="-342900" fontAlgn="t">
              <a:lnSpc>
                <a:spcPct val="70000"/>
              </a:lnSpc>
            </a:pPr>
            <a:r>
              <a:rPr lang="en-IN" b="0" dirty="0"/>
              <a:t>Vendor obligations</a:t>
            </a:r>
          </a:p>
          <a:p>
            <a:pPr marL="342900" lvl="0" indent="-342900" fontAlgn="t">
              <a:lnSpc>
                <a:spcPct val="70000"/>
              </a:lnSpc>
            </a:pPr>
            <a:r>
              <a:rPr lang="en-IN" b="0" dirty="0"/>
              <a:t>Security commitments</a:t>
            </a:r>
          </a:p>
          <a:p>
            <a:pPr marL="342900" lvl="0" indent="-342900" fontAlgn="t">
              <a:lnSpc>
                <a:spcPct val="70000"/>
              </a:lnSpc>
            </a:pPr>
            <a:r>
              <a:rPr lang="en-IN" b="0" dirty="0"/>
              <a:t>Data privacy clauses</a:t>
            </a:r>
          </a:p>
          <a:p>
            <a:pPr marL="342900" lvl="0" indent="-342900" fontAlgn="t">
              <a:lnSpc>
                <a:spcPct val="70000"/>
              </a:lnSpc>
            </a:pPr>
            <a:r>
              <a:rPr lang="en-IN" b="0" dirty="0"/>
              <a:t>Audit and compliance requirements</a:t>
            </a:r>
          </a:p>
          <a:p>
            <a:pPr marL="342900" lvl="0" indent="-342900" fontAlgn="t">
              <a:lnSpc>
                <a:spcPct val="70000"/>
              </a:lnSpc>
            </a:pPr>
            <a:r>
              <a:rPr lang="en-IN" b="0" dirty="0"/>
              <a:t>Personal information that requires redaction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F0F651-FAA7-EAA3-FD5D-F8DCFAD4248A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 Acquisition &amp; Understanding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73C2547-6197-4444-8BCC-49C4AE113DB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DD2652D-6EE4-C8E2-C2D5-AC11C218C7B0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RAG-Powered Vendor Compliance Auditor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AB8BF66B-4015-E99C-287C-D360F1E3B73B}"/>
              </a:ext>
            </a:extLst>
          </p:cNvPr>
          <p:cNvSpPr txBox="1">
            <a:spLocks/>
          </p:cNvSpPr>
          <p:nvPr/>
        </p:nvSpPr>
        <p:spPr>
          <a:xfrm>
            <a:off x="6561220" y="3069332"/>
            <a:ext cx="4808397" cy="21881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t">
              <a:lnSpc>
                <a:spcPct val="70000"/>
              </a:lnSpc>
              <a:buNone/>
            </a:pPr>
            <a:r>
              <a:rPr lang="en-IN" dirty="0">
                <a:solidFill>
                  <a:srgbClr val="1F4E79"/>
                </a:solidFill>
              </a:rPr>
              <a:t>Example Compliance Scenarios</a:t>
            </a:r>
          </a:p>
          <a:p>
            <a:pPr marL="342900" lvl="0" indent="-342900" fontAlgn="t">
              <a:lnSpc>
                <a:spcPct val="70000"/>
              </a:lnSpc>
            </a:pPr>
            <a:r>
              <a:rPr lang="en-IN" b="0" dirty="0"/>
              <a:t>Compliant clause</a:t>
            </a:r>
          </a:p>
          <a:p>
            <a:pPr marL="342900" lvl="0" indent="-342900" fontAlgn="t">
              <a:lnSpc>
                <a:spcPct val="70000"/>
              </a:lnSpc>
            </a:pPr>
            <a:r>
              <a:rPr lang="en-IN" b="0" dirty="0"/>
              <a:t>Non-compliant clause</a:t>
            </a:r>
          </a:p>
          <a:p>
            <a:pPr marL="342900" lvl="0" indent="-342900" fontAlgn="t">
              <a:lnSpc>
                <a:spcPct val="70000"/>
              </a:lnSpc>
            </a:pPr>
            <a:r>
              <a:rPr lang="en-IN" b="0" dirty="0"/>
              <a:t>Ambiguous clause</a:t>
            </a:r>
          </a:p>
          <a:p>
            <a:pPr marL="342900" lvl="0" indent="-342900" fontAlgn="t">
              <a:lnSpc>
                <a:spcPct val="70000"/>
              </a:lnSpc>
            </a:pPr>
            <a:r>
              <a:rPr lang="en-IN" b="0" dirty="0"/>
              <a:t>Missing requirement</a:t>
            </a: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B76B6CC7-1F6D-DC0D-26BC-E6A9EFB8143B}"/>
              </a:ext>
            </a:extLst>
          </p:cNvPr>
          <p:cNvSpPr txBox="1">
            <a:spLocks/>
          </p:cNvSpPr>
          <p:nvPr/>
        </p:nvSpPr>
        <p:spPr>
          <a:xfrm>
            <a:off x="517259" y="1301458"/>
            <a:ext cx="11153267" cy="16634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t">
              <a:lnSpc>
                <a:spcPct val="70000"/>
              </a:lnSpc>
              <a:buNone/>
            </a:pPr>
            <a:r>
              <a:rPr lang="en-IN" dirty="0">
                <a:solidFill>
                  <a:srgbClr val="1F4E79"/>
                </a:solidFill>
              </a:rPr>
              <a:t>Data Acquisition</a:t>
            </a:r>
          </a:p>
          <a:p>
            <a:pPr marL="342900" lvl="0" indent="-342900" fontAlgn="t">
              <a:lnSpc>
                <a:spcPct val="70000"/>
              </a:lnSpc>
            </a:pPr>
            <a:r>
              <a:rPr lang="en-IN" b="0" dirty="0"/>
              <a:t>Synthetic vendor agreements (MSAs and SLAs).</a:t>
            </a:r>
          </a:p>
          <a:p>
            <a:pPr marL="342900" lvl="0" indent="-342900" fontAlgn="t">
              <a:lnSpc>
                <a:spcPct val="70000"/>
              </a:lnSpc>
            </a:pPr>
            <a:r>
              <a:rPr lang="en-IN" b="0" dirty="0"/>
              <a:t>Synthetic enterprise security and compliance policies.</a:t>
            </a:r>
          </a:p>
          <a:p>
            <a:pPr marL="342900" lvl="0" indent="-342900" fontAlgn="t">
              <a:lnSpc>
                <a:spcPct val="70000"/>
              </a:lnSpc>
            </a:pPr>
            <a:r>
              <a:rPr lang="en-IN" b="0" dirty="0"/>
              <a:t>Sample contract clauses representing different compliance scenarios.</a:t>
            </a:r>
          </a:p>
        </p:txBody>
      </p:sp>
    </p:spTree>
    <p:extLst>
      <p:ext uri="{BB962C8B-B14F-4D97-AF65-F5344CB8AC3E}">
        <p14:creationId xmlns:p14="http://schemas.microsoft.com/office/powerpoint/2010/main" val="72391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23C95-1134-F916-A617-122171291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83F7A05-04D8-041E-3F7F-A09B97FF3FB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5655" y="1234637"/>
            <a:ext cx="10776475" cy="5139832"/>
          </a:xfrm>
        </p:spPr>
        <p:txBody>
          <a:bodyPr/>
          <a:lstStyle/>
          <a:p>
            <a:pPr fontAlgn="t">
              <a:lnSpc>
                <a:spcPct val="70000"/>
              </a:lnSpc>
              <a:buNone/>
            </a:pPr>
            <a:r>
              <a:rPr lang="en-IN" dirty="0"/>
              <a:t>Data Preprocessing Steps</a:t>
            </a:r>
          </a:p>
          <a:p>
            <a:pPr marL="342900" lvl="0" indent="-342900" fontAlgn="t">
              <a:lnSpc>
                <a:spcPct val="70000"/>
              </a:lnSpc>
              <a:buFont typeface="+mj-lt"/>
              <a:buAutoNum type="arabicPeriod"/>
            </a:pPr>
            <a:r>
              <a:rPr lang="en-IN" b="0" dirty="0"/>
              <a:t>Contract Upload</a:t>
            </a:r>
          </a:p>
          <a:p>
            <a:pPr marL="342900" lvl="0" indent="-342900" fontAlgn="t">
              <a:lnSpc>
                <a:spcPct val="70000"/>
              </a:lnSpc>
              <a:buFont typeface="+mj-lt"/>
              <a:buAutoNum type="arabicPeriod"/>
            </a:pPr>
            <a:r>
              <a:rPr lang="en-IN" b="0" dirty="0"/>
              <a:t>PDF Text Extraction</a:t>
            </a:r>
          </a:p>
          <a:p>
            <a:pPr marL="342900" lvl="0" indent="-342900" fontAlgn="t">
              <a:lnSpc>
                <a:spcPct val="70000"/>
              </a:lnSpc>
              <a:buFont typeface="+mj-lt"/>
              <a:buAutoNum type="arabicPeriod"/>
            </a:pPr>
            <a:r>
              <a:rPr lang="en-IN" b="0" dirty="0"/>
              <a:t>Metadata Collection (page numbers, source information)</a:t>
            </a:r>
          </a:p>
          <a:p>
            <a:pPr marL="342900" lvl="0" indent="-342900" fontAlgn="t">
              <a:lnSpc>
                <a:spcPct val="70000"/>
              </a:lnSpc>
              <a:buFont typeface="+mj-lt"/>
              <a:buAutoNum type="arabicPeriod"/>
            </a:pPr>
            <a:r>
              <a:rPr lang="en-IN" b="0" dirty="0"/>
              <a:t>PII Detection using Presidio &amp; </a:t>
            </a:r>
            <a:r>
              <a:rPr lang="en-IN" b="0" dirty="0" err="1"/>
              <a:t>spaCy</a:t>
            </a:r>
            <a:endParaRPr lang="en-IN" b="0" dirty="0"/>
          </a:p>
          <a:p>
            <a:pPr marL="342900" lvl="0" indent="-342900" fontAlgn="t">
              <a:lnSpc>
                <a:spcPct val="70000"/>
              </a:lnSpc>
              <a:buFont typeface="+mj-lt"/>
              <a:buAutoNum type="arabicPeriod"/>
            </a:pPr>
            <a:r>
              <a:rPr lang="en-IN" b="0" dirty="0"/>
              <a:t>Text Redaction</a:t>
            </a:r>
          </a:p>
          <a:p>
            <a:pPr marL="342900" lvl="0" indent="-342900" fontAlgn="t">
              <a:lnSpc>
                <a:spcPct val="70000"/>
              </a:lnSpc>
              <a:buFont typeface="+mj-lt"/>
              <a:buAutoNum type="arabicPeriod"/>
            </a:pPr>
            <a:r>
              <a:rPr lang="en-IN" b="0" dirty="0"/>
              <a:t>Clause/Paragraph-Based Chunking</a:t>
            </a:r>
          </a:p>
          <a:p>
            <a:pPr marL="342900" lvl="0" indent="-342900" fontAlgn="t">
              <a:lnSpc>
                <a:spcPct val="70000"/>
              </a:lnSpc>
              <a:buFont typeface="+mj-lt"/>
              <a:buAutoNum type="arabicPeriod"/>
            </a:pPr>
            <a:r>
              <a:rPr lang="en-IN" b="0" dirty="0"/>
              <a:t>Embedding Generation using </a:t>
            </a:r>
            <a:r>
              <a:rPr lang="en-IN" b="0" dirty="0" err="1"/>
              <a:t>Ollama</a:t>
            </a:r>
            <a:r>
              <a:rPr lang="en-IN" b="0" dirty="0"/>
              <a:t> Granite Embeddings</a:t>
            </a:r>
          </a:p>
          <a:p>
            <a:pPr marL="342900" lvl="0" indent="-342900" fontAlgn="t">
              <a:lnSpc>
                <a:spcPct val="70000"/>
              </a:lnSpc>
              <a:buFont typeface="+mj-lt"/>
              <a:buAutoNum type="arabicPeriod"/>
            </a:pPr>
            <a:r>
              <a:rPr lang="en-IN" b="0" dirty="0"/>
              <a:t>Storage in </a:t>
            </a:r>
            <a:r>
              <a:rPr lang="en-IN" b="0" dirty="0" err="1"/>
              <a:t>ChromaDB</a:t>
            </a:r>
            <a:endParaRPr lang="en-IN" b="0" dirty="0"/>
          </a:p>
          <a:p>
            <a:pPr fontAlgn="t">
              <a:lnSpc>
                <a:spcPct val="70000"/>
              </a:lnSpc>
              <a:buNone/>
            </a:pPr>
            <a:r>
              <a:rPr lang="en-IN" dirty="0"/>
              <a:t>Benefits</a:t>
            </a:r>
          </a:p>
          <a:p>
            <a:pPr marL="342900" lvl="0" indent="-342900" fontAlgn="t">
              <a:lnSpc>
                <a:spcPct val="70000"/>
              </a:lnSpc>
            </a:pPr>
            <a:r>
              <a:rPr lang="en-IN" b="0" dirty="0"/>
              <a:t>Protects sensitive information.</a:t>
            </a:r>
          </a:p>
          <a:p>
            <a:pPr marL="342900" lvl="0" indent="-342900" fontAlgn="t">
              <a:lnSpc>
                <a:spcPct val="70000"/>
              </a:lnSpc>
            </a:pPr>
            <a:r>
              <a:rPr lang="en-IN" b="0" dirty="0"/>
              <a:t>Improves retrieval quality.</a:t>
            </a:r>
          </a:p>
          <a:p>
            <a:pPr marL="342900" lvl="0" indent="-342900" fontAlgn="t">
              <a:lnSpc>
                <a:spcPct val="70000"/>
              </a:lnSpc>
            </a:pPr>
            <a:r>
              <a:rPr lang="en-IN" b="0" dirty="0"/>
              <a:t>Enables efficient compliance analysis.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C8F700-9F1E-9447-9E65-1DE561C8B35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 Preprocessing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F95FBDB-65DC-0FA3-E77B-1D5F1745975B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1B221975-AC27-3A0D-9271-60A7B52DCB4C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RAG-Powered Vendor Compliance Auditor</a:t>
            </a:r>
          </a:p>
        </p:txBody>
      </p:sp>
    </p:spTree>
    <p:extLst>
      <p:ext uri="{BB962C8B-B14F-4D97-AF65-F5344CB8AC3E}">
        <p14:creationId xmlns:p14="http://schemas.microsoft.com/office/powerpoint/2010/main" val="511708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1CD67-A9E1-D9D1-06A6-5F04E56FB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9D50531-6198-A0E3-6820-C61D04CD275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5655" y="1234637"/>
            <a:ext cx="10776475" cy="5139832"/>
          </a:xfrm>
        </p:spPr>
        <p:txBody>
          <a:bodyPr/>
          <a:lstStyle/>
          <a:p>
            <a:pPr fontAlgn="t">
              <a:buNone/>
            </a:pPr>
            <a:r>
              <a:rPr lang="en-IN" b="0" dirty="0"/>
              <a:t>The dataset will be </a:t>
            </a:r>
            <a:r>
              <a:rPr lang="en-IN" b="0" dirty="0" err="1"/>
              <a:t>analyzed</a:t>
            </a:r>
            <a:r>
              <a:rPr lang="en-IN" b="0" dirty="0"/>
              <a:t> to understand:</a:t>
            </a:r>
          </a:p>
          <a:p>
            <a:pPr marL="342900" lvl="0" indent="-342900" fontAlgn="t"/>
            <a:r>
              <a:rPr lang="en-IN" b="0" dirty="0"/>
              <a:t>Number of contracts available.</a:t>
            </a:r>
          </a:p>
          <a:p>
            <a:pPr marL="342900" lvl="0" indent="-342900" fontAlgn="t"/>
            <a:r>
              <a:rPr lang="en-IN" b="0" dirty="0"/>
              <a:t>Distribution of contract clauses.</a:t>
            </a:r>
          </a:p>
          <a:p>
            <a:pPr marL="342900" lvl="0" indent="-342900" fontAlgn="t"/>
            <a:r>
              <a:rPr lang="en-IN" b="0" dirty="0"/>
              <a:t>Frequency of policy-related keywords.</a:t>
            </a:r>
          </a:p>
          <a:p>
            <a:pPr marL="342900" lvl="0" indent="-342900" fontAlgn="t"/>
            <a:r>
              <a:rPr lang="en-IN" b="0" dirty="0"/>
              <a:t>Count of detected PII entities.</a:t>
            </a:r>
          </a:p>
          <a:p>
            <a:pPr marL="342900" lvl="0" indent="-342900" fontAlgn="t"/>
            <a:r>
              <a:rPr lang="en-IN" b="0" dirty="0"/>
              <a:t>Chunk statistics after preprocessing.</a:t>
            </a:r>
          </a:p>
          <a:p>
            <a:pPr marL="342900" lvl="0" indent="-342900" fontAlgn="t"/>
            <a:r>
              <a:rPr lang="en-IN" b="0" dirty="0"/>
              <a:t>Compliance category distribution: </a:t>
            </a:r>
          </a:p>
          <a:p>
            <a:pPr marL="742950" lvl="1" indent="-285750" fontAlgn="t"/>
            <a:r>
              <a:rPr lang="en-IN" dirty="0"/>
              <a:t>Compliant</a:t>
            </a:r>
          </a:p>
          <a:p>
            <a:pPr marL="742950" lvl="1" indent="-285750" fontAlgn="t"/>
            <a:r>
              <a:rPr lang="en-IN" dirty="0"/>
              <a:t>Non-Compliant</a:t>
            </a:r>
          </a:p>
          <a:p>
            <a:pPr marL="742950" lvl="1" indent="-285750" fontAlgn="t"/>
            <a:r>
              <a:rPr lang="en-IN" dirty="0"/>
              <a:t>Ambiguous</a:t>
            </a:r>
          </a:p>
          <a:p>
            <a:pPr marL="742950" lvl="1" indent="-285750" fontAlgn="t"/>
            <a:r>
              <a:rPr lang="en-IN" dirty="0"/>
              <a:t>Missing</a:t>
            </a:r>
          </a:p>
          <a:p>
            <a:pPr fontAlgn="t">
              <a:buNone/>
            </a:pPr>
            <a:r>
              <a:rPr lang="en-IN" dirty="0"/>
              <a:t>Key Insights Expected</a:t>
            </a:r>
          </a:p>
          <a:p>
            <a:pPr marL="342900" lvl="0" indent="-342900" fontAlgn="t"/>
            <a:r>
              <a:rPr lang="en-IN" b="0" dirty="0"/>
              <a:t>Identify common compliance topics.</a:t>
            </a:r>
          </a:p>
          <a:p>
            <a:pPr marL="342900" lvl="0" indent="-342900" fontAlgn="t"/>
            <a:r>
              <a:rPr lang="en-IN" b="0" dirty="0"/>
              <a:t>Understand contract structure and clause patterns.</a:t>
            </a:r>
          </a:p>
          <a:p>
            <a:pPr marL="342900" lvl="0" indent="-342900" fontAlgn="t"/>
            <a:r>
              <a:rPr lang="en-IN" b="0" dirty="0"/>
              <a:t>Validate readiness of data for the RAG pipeline.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86AB6E-AF55-1A09-72FE-57021CB973E7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Exploratory Data Analysis (EDA)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2C3ABD5-B37C-2501-1183-938BD69942A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B887D36-0039-DA6D-FE5C-0979F444D49E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RAG-Powered Vendor Compliance Auditor</a:t>
            </a:r>
          </a:p>
        </p:txBody>
      </p:sp>
    </p:spTree>
    <p:extLst>
      <p:ext uri="{BB962C8B-B14F-4D97-AF65-F5344CB8AC3E}">
        <p14:creationId xmlns:p14="http://schemas.microsoft.com/office/powerpoint/2010/main" val="1250451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A4772-37AD-BEBE-0892-6E0F115CB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63EF565-8D5A-4C72-869A-249AAD0F11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5655" y="1234637"/>
            <a:ext cx="10776475" cy="5139832"/>
          </a:xfrm>
        </p:spPr>
        <p:txBody>
          <a:bodyPr/>
          <a:lstStyle/>
          <a:p>
            <a:pPr fontAlgn="t">
              <a:buNone/>
            </a:pPr>
            <a:r>
              <a:rPr lang="en-IN" dirty="0"/>
              <a:t>Conclusion</a:t>
            </a:r>
          </a:p>
          <a:p>
            <a:pPr fontAlgn="t">
              <a:buNone/>
            </a:pPr>
            <a:r>
              <a:rPr lang="en-IN" b="0" dirty="0"/>
              <a:t>The project demonstrates how Retrieval-Augmented Generation (RAG) can assist vendor compliance auditing by combining document retrieval, privacy protection, and AI-based analysis.</a:t>
            </a:r>
          </a:p>
          <a:p>
            <a:pPr fontAlgn="t">
              <a:buNone/>
            </a:pPr>
            <a:r>
              <a:rPr lang="en-IN" dirty="0"/>
              <a:t>Future Work</a:t>
            </a:r>
          </a:p>
          <a:p>
            <a:pPr marL="342900" lvl="0" indent="-342900" fontAlgn="t"/>
            <a:r>
              <a:rPr lang="en-IN" b="0" dirty="0"/>
              <a:t>Support additional file formats (DOCX, TXT).</a:t>
            </a:r>
          </a:p>
          <a:p>
            <a:pPr marL="342900" lvl="0" indent="-342900" fontAlgn="t"/>
            <a:r>
              <a:rPr lang="en-IN" b="0" dirty="0"/>
              <a:t>Improve policy coverage.</a:t>
            </a:r>
          </a:p>
          <a:p>
            <a:pPr marL="342900" lvl="0" indent="-342900" fontAlgn="t"/>
            <a:r>
              <a:rPr lang="en-IN" b="0" dirty="0"/>
              <a:t>Add advanced compliance metrics.</a:t>
            </a:r>
          </a:p>
          <a:p>
            <a:pPr marL="342900" lvl="0" indent="-342900" fontAlgn="t"/>
            <a:r>
              <a:rPr lang="en-IN" b="0" dirty="0"/>
              <a:t>Generate downloadable audit reports.</a:t>
            </a:r>
          </a:p>
          <a:p>
            <a:pPr marL="342900" lvl="0" indent="-342900" fontAlgn="t"/>
            <a:r>
              <a:rPr lang="en-IN" b="0" dirty="0"/>
              <a:t>Enhance retrieval accuracy and scalability.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6F09EA-5B59-B9E7-9820-07DF874EC34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Conclusion &amp; Future Work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97830DD-0FB3-22D7-D240-CF22ECBC6E81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45AA7D3-2351-30B5-C695-C11658D91B8D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RAG-Powered Vendor Compliance Auditor</a:t>
            </a:r>
          </a:p>
        </p:txBody>
      </p:sp>
    </p:spTree>
    <p:extLst>
      <p:ext uri="{BB962C8B-B14F-4D97-AF65-F5344CB8AC3E}">
        <p14:creationId xmlns:p14="http://schemas.microsoft.com/office/powerpoint/2010/main" val="1459773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BE389-F902-35BA-81B1-F92D7E935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4AFA806-199F-894F-39BD-A75243798A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5655" y="1234637"/>
            <a:ext cx="10776475" cy="5139832"/>
          </a:xfrm>
        </p:spPr>
        <p:txBody>
          <a:bodyPr/>
          <a:lstStyle/>
          <a:p>
            <a:pPr marL="342900" lvl="0" indent="-342900" fontAlgn="t"/>
            <a:r>
              <a:rPr lang="en-IN" dirty="0"/>
              <a:t>Lewis, P. et al. (2020).</a:t>
            </a:r>
            <a:r>
              <a:rPr lang="en-IN" b="0" dirty="0"/>
              <a:t> </a:t>
            </a:r>
            <a:r>
              <a:rPr lang="en-IN" b="0" i="1" dirty="0"/>
              <a:t>Retrieval-Augmented Generation for Knowledge-Intensive NLP Tasks.</a:t>
            </a:r>
            <a:r>
              <a:rPr lang="en-IN" b="0" dirty="0"/>
              <a:t> </a:t>
            </a:r>
            <a:r>
              <a:rPr lang="en-IN" b="0" dirty="0" err="1"/>
              <a:t>NeurIPS</a:t>
            </a:r>
            <a:r>
              <a:rPr lang="en-IN" b="0" dirty="0"/>
              <a:t> 2020.</a:t>
            </a:r>
            <a:br>
              <a:rPr lang="en-IN" b="0" dirty="0"/>
            </a:br>
            <a:r>
              <a:rPr lang="en-IN" dirty="0"/>
              <a:t>Relevance:</a:t>
            </a:r>
            <a:r>
              <a:rPr lang="en-IN" b="0" dirty="0"/>
              <a:t> Foundational RAG paper. It introduced the combination of parametric language-model knowledge with retrieved external knowledge.</a:t>
            </a:r>
          </a:p>
          <a:p>
            <a:pPr marL="342900" lvl="0" indent="-342900" fontAlgn="t"/>
            <a:r>
              <a:rPr lang="en-IN" dirty="0"/>
              <a:t>Gao, Y. et al. (2023/2024).</a:t>
            </a:r>
            <a:r>
              <a:rPr lang="en-IN" b="0" dirty="0"/>
              <a:t> </a:t>
            </a:r>
            <a:r>
              <a:rPr lang="en-IN" b="0" i="1" dirty="0"/>
              <a:t>Retrieval-Augmented Generation for Large Language Models: A Survey.</a:t>
            </a:r>
            <a:br>
              <a:rPr lang="en-IN" b="0" dirty="0"/>
            </a:br>
            <a:r>
              <a:rPr lang="en-IN" dirty="0"/>
              <a:t>Relevance:</a:t>
            </a:r>
            <a:r>
              <a:rPr lang="en-IN" b="0" dirty="0"/>
              <a:t> Excellent literature-review reference covering Naive, Advanced and Modular RAG, along with retrieval, generation and evaluation techniques.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A51F0D-837C-EA84-C110-AD78DF72417D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Literature Review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548ED76-58C3-2CB5-46E8-023D8461C3BA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1E948FBD-B7FB-347C-4008-79066933DAB9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RAG-Powered Vendor Compliance Auditor</a:t>
            </a:r>
          </a:p>
        </p:txBody>
      </p:sp>
    </p:spTree>
    <p:extLst>
      <p:ext uri="{BB962C8B-B14F-4D97-AF65-F5344CB8AC3E}">
        <p14:creationId xmlns:p14="http://schemas.microsoft.com/office/powerpoint/2010/main" val="1844673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12177-6077-434E-6ADC-A45C2D572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53F63F3-F97D-28B8-EBC5-89A4B6930D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5655" y="1234637"/>
            <a:ext cx="10776475" cy="5139832"/>
          </a:xfrm>
        </p:spPr>
        <p:txBody>
          <a:bodyPr/>
          <a:lstStyle/>
          <a:p>
            <a:pPr marL="342900" indent="-342900" fontAlgn="t"/>
            <a:r>
              <a:rPr lang="en-IN" dirty="0"/>
              <a:t>Shi, W. et al. (2023).</a:t>
            </a:r>
            <a:r>
              <a:rPr lang="en-IN" b="0" dirty="0"/>
              <a:t> </a:t>
            </a:r>
            <a:r>
              <a:rPr lang="en-IN" b="0" i="1" dirty="0"/>
              <a:t>REPLUG: Retrieval-Augmented Black-Box Language Models.</a:t>
            </a:r>
            <a:br>
              <a:rPr lang="en-IN" b="0" dirty="0"/>
            </a:br>
            <a:r>
              <a:rPr lang="en-IN" dirty="0"/>
              <a:t>Relevance:</a:t>
            </a:r>
            <a:r>
              <a:rPr lang="en-IN" b="0" dirty="0"/>
              <a:t> Demonstrates a simple retrieval architecture where retrieved documents are provided to an existing language model without needing to modify the LLM itself. </a:t>
            </a:r>
          </a:p>
          <a:p>
            <a:pPr marL="342900" indent="-342900" fontAlgn="t"/>
            <a:r>
              <a:rPr lang="en-IN" dirty="0"/>
              <a:t>Jiang, Z. et al. (2023).</a:t>
            </a:r>
            <a:r>
              <a:rPr lang="en-IN" b="0" dirty="0"/>
              <a:t> </a:t>
            </a:r>
            <a:r>
              <a:rPr lang="en-IN" b="0" i="1" dirty="0"/>
              <a:t>Active Retrieval Augmented Generation.</a:t>
            </a:r>
            <a:r>
              <a:rPr lang="en-IN" b="0" dirty="0"/>
              <a:t> EMNLP 2023.</a:t>
            </a:r>
            <a:br>
              <a:rPr lang="en-IN" b="0" dirty="0"/>
            </a:br>
            <a:r>
              <a:rPr lang="en-IN" dirty="0"/>
              <a:t>Relevance:</a:t>
            </a:r>
            <a:r>
              <a:rPr lang="en-IN" b="0" dirty="0"/>
              <a:t> Introduces FLARE, where retrieval can occur dynamically during generation rather than relying on only one initial retrieval operation.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3D9DCC-19B0-FFFE-B65C-426ABA46592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Literature Review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95D14E6-CC26-8750-C5C0-3134B173DA9C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B9CBFAF-EBD7-C85C-01E0-EC542BF98DFE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RAG-Powered Vendor Compliance Auditor</a:t>
            </a:r>
          </a:p>
        </p:txBody>
      </p:sp>
    </p:spTree>
    <p:extLst>
      <p:ext uri="{BB962C8B-B14F-4D97-AF65-F5344CB8AC3E}">
        <p14:creationId xmlns:p14="http://schemas.microsoft.com/office/powerpoint/2010/main" val="724443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B2CE49-22E4-4526-D627-49F17C1F0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89F6C0C-70F8-AA62-AE86-A2B0888186A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5655" y="1234637"/>
            <a:ext cx="10776475" cy="5139832"/>
          </a:xfrm>
        </p:spPr>
        <p:txBody>
          <a:bodyPr/>
          <a:lstStyle/>
          <a:p>
            <a:pPr marL="342900" indent="-342900" fontAlgn="t"/>
            <a:r>
              <a:rPr lang="en-IN" dirty="0"/>
              <a:t>Asai, A. et al. (2023).</a:t>
            </a:r>
            <a:r>
              <a:rPr lang="en-IN" b="0" dirty="0"/>
              <a:t> </a:t>
            </a:r>
            <a:r>
              <a:rPr lang="en-IN" b="0" i="1" dirty="0"/>
              <a:t>Self-RAG: Learning to Retrieve, Generate, and Critique through Self-Reflection.</a:t>
            </a:r>
            <a:br>
              <a:rPr lang="en-IN" b="0" dirty="0"/>
            </a:br>
            <a:r>
              <a:rPr lang="en-IN" dirty="0"/>
              <a:t>Relevance:</a:t>
            </a:r>
            <a:r>
              <a:rPr lang="en-IN" b="0" dirty="0"/>
              <a:t> Introduces adaptive retrieval and self-reflection to improve factuality and citation accuracy. Particularly relevant to reliable compliance findings. </a:t>
            </a:r>
          </a:p>
          <a:p>
            <a:pPr marL="342900" indent="-342900" fontAlgn="t"/>
            <a:r>
              <a:rPr lang="en-IN" dirty="0"/>
              <a:t>Yan, S.-Q. et al. (2024).</a:t>
            </a:r>
            <a:r>
              <a:rPr lang="en-IN" b="0" dirty="0"/>
              <a:t> </a:t>
            </a:r>
            <a:r>
              <a:rPr lang="en-IN" b="0" i="1" dirty="0"/>
              <a:t>Corrective Retrieval Augmented Generation.</a:t>
            </a:r>
            <a:br>
              <a:rPr lang="en-IN" b="0" dirty="0"/>
            </a:br>
            <a:r>
              <a:rPr lang="en-IN" dirty="0"/>
              <a:t>Relevance:</a:t>
            </a:r>
            <a:r>
              <a:rPr lang="en-IN" b="0" dirty="0"/>
              <a:t> CRAG evaluates retrieval quality and takes corrective action when retrieved documents are poor, highlighting why retrieval quality matters before an LLM produces a decision.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CF33C7-8181-2684-7755-FA0F805218FE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Literature Review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6D08D85-2C70-73C7-628E-EB0A3910057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3CAC4A5-6F93-B9FB-F9B0-148D9A24A728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RAG-Powered Vendor Compliance Auditor</a:t>
            </a:r>
          </a:p>
        </p:txBody>
      </p:sp>
    </p:spTree>
    <p:extLst>
      <p:ext uri="{BB962C8B-B14F-4D97-AF65-F5344CB8AC3E}">
        <p14:creationId xmlns:p14="http://schemas.microsoft.com/office/powerpoint/2010/main" val="3985520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34629-6689-AB3C-B222-F6C9E3901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2545BFE-5DDF-7D9C-52A9-0C6599ECDA2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5655" y="1234637"/>
            <a:ext cx="10776475" cy="5139832"/>
          </a:xfrm>
        </p:spPr>
        <p:txBody>
          <a:bodyPr/>
          <a:lstStyle/>
          <a:p>
            <a:pPr marL="342900" indent="-342900" fontAlgn="t"/>
            <a:r>
              <a:rPr lang="en-IN" dirty="0"/>
              <a:t>Wang, X. et al. (2024).</a:t>
            </a:r>
            <a:r>
              <a:rPr lang="en-IN" b="0" dirty="0"/>
              <a:t> </a:t>
            </a:r>
            <a:r>
              <a:rPr lang="en-IN" b="0" i="1" dirty="0"/>
              <a:t>Searching for Best Practices in Retrieval-Augmented Generation.</a:t>
            </a:r>
            <a:r>
              <a:rPr lang="en-IN" b="0" dirty="0"/>
              <a:t> EMNLP 2024.</a:t>
            </a:r>
            <a:br>
              <a:rPr lang="en-IN" b="0" dirty="0"/>
            </a:br>
            <a:r>
              <a:rPr lang="en-IN" dirty="0"/>
              <a:t>Relevance:</a:t>
            </a:r>
            <a:r>
              <a:rPr lang="en-IN" b="0" dirty="0"/>
              <a:t> Investigates different components and combinations of RAG pipelines and discusses strategies that balance effectiveness and efficiency.</a:t>
            </a:r>
          </a:p>
          <a:p>
            <a:pPr marL="342900" indent="-342900" fontAlgn="t"/>
            <a:r>
              <a:rPr lang="en-IN" dirty="0"/>
              <a:t>Es, S., James, J., Espinosa-Anke, L., &amp; </a:t>
            </a:r>
            <a:r>
              <a:rPr lang="en-IN" dirty="0" err="1"/>
              <a:t>Schockaert</a:t>
            </a:r>
            <a:r>
              <a:rPr lang="en-IN" dirty="0"/>
              <a:t>, S. (2024).</a:t>
            </a:r>
            <a:r>
              <a:rPr lang="en-IN" b="0" dirty="0"/>
              <a:t> </a:t>
            </a:r>
            <a:r>
              <a:rPr lang="en-IN" b="0" i="1" dirty="0"/>
              <a:t>RAGAs: Automated Evaluation of Retrieval Augmented Generation.</a:t>
            </a:r>
            <a:r>
              <a:rPr lang="en-IN" b="0" dirty="0"/>
              <a:t> EACL 2024.</a:t>
            </a:r>
            <a:br>
              <a:rPr lang="en-IN" b="0" dirty="0"/>
            </a:br>
            <a:r>
              <a:rPr lang="en-IN" dirty="0"/>
              <a:t>Relevance:</a:t>
            </a:r>
            <a:r>
              <a:rPr lang="en-IN" b="0" dirty="0"/>
              <a:t> Directly relevant to evaluating a RAG pipeline, including retrieval context relevance, faithfulness and generation quality. </a:t>
            </a:r>
            <a:br>
              <a:rPr lang="en-IN" b="0" dirty="0"/>
            </a:br>
            <a:endParaRPr lang="en-IN" b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00C0D2-8BCB-D7B1-F43B-351B778D9734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Literature Review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EF7A72-EBFF-78D0-2808-6CD663994CB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E3D176E-0204-43DB-7871-81A1E4B874CA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RAG-Powered Vendor Compliance Auditor</a:t>
            </a:r>
          </a:p>
        </p:txBody>
      </p:sp>
    </p:spTree>
    <p:extLst>
      <p:ext uri="{BB962C8B-B14F-4D97-AF65-F5344CB8AC3E}">
        <p14:creationId xmlns:p14="http://schemas.microsoft.com/office/powerpoint/2010/main" val="1346581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68F12-F135-19FC-D2A6-E97CE9E7B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195D91F-992A-AB99-BF59-608BFC41F5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5655" y="1234637"/>
            <a:ext cx="10776475" cy="5139832"/>
          </a:xfrm>
        </p:spPr>
        <p:txBody>
          <a:bodyPr/>
          <a:lstStyle/>
          <a:p>
            <a:pPr marL="342900" indent="-342900" fontAlgn="t"/>
            <a:r>
              <a:rPr lang="en-IN" dirty="0"/>
              <a:t>Saad-Falcon, J., Khattab, O., Potts, C., &amp; Zaharia, M. (2024).</a:t>
            </a:r>
            <a:r>
              <a:rPr lang="en-IN" b="0" dirty="0"/>
              <a:t> </a:t>
            </a:r>
            <a:r>
              <a:rPr lang="en-IN" b="0" i="1" dirty="0"/>
              <a:t>ARES: An Automated Evaluation Framework for Retrieval-Augmented Generation Systems.</a:t>
            </a:r>
            <a:r>
              <a:rPr lang="en-IN" b="0" dirty="0"/>
              <a:t> NAACL 2024.</a:t>
            </a:r>
            <a:br>
              <a:rPr lang="en-IN" b="0" dirty="0"/>
            </a:br>
            <a:r>
              <a:rPr lang="en-IN" dirty="0"/>
              <a:t>Relevance:</a:t>
            </a:r>
            <a:r>
              <a:rPr lang="en-IN" b="0" dirty="0"/>
              <a:t> Evaluates RAG using context relevance, answer faithfulness and answer relevance, all useful concepts when explaining evaluation of your compliance auditor.</a:t>
            </a:r>
          </a:p>
          <a:p>
            <a:pPr marL="342900" indent="-342900" fontAlgn="t"/>
            <a:r>
              <a:rPr lang="en-IN" dirty="0"/>
              <a:t>Ru, D. et al. (2024).</a:t>
            </a:r>
            <a:r>
              <a:rPr lang="en-IN" b="0" dirty="0"/>
              <a:t> </a:t>
            </a:r>
            <a:r>
              <a:rPr lang="en-IN" b="0" i="1" dirty="0" err="1"/>
              <a:t>RAGChecker</a:t>
            </a:r>
            <a:r>
              <a:rPr lang="en-IN" b="0" i="1" dirty="0"/>
              <a:t>: A Fine-grained Framework for Diagnosing Retrieval-Augmented Generation.</a:t>
            </a:r>
            <a:br>
              <a:rPr lang="en-IN" b="0" dirty="0"/>
            </a:br>
            <a:r>
              <a:rPr lang="en-IN" dirty="0"/>
              <a:t>Relevance:</a:t>
            </a:r>
            <a:r>
              <a:rPr lang="en-IN" b="0" dirty="0"/>
              <a:t> Provides diagnostic metrics for both the retrieval and generation components of RAG systems.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F4EB40-F0A5-AAF0-A513-0EA72DBF7C86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Literature Review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263F292-E74E-59A6-A9BD-BB78566BB1E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369C2E8-65D7-0E45-53EA-A8D2867AC472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RAG-Powered Vendor Compliance Auditor</a:t>
            </a:r>
          </a:p>
        </p:txBody>
      </p:sp>
    </p:spTree>
    <p:extLst>
      <p:ext uri="{BB962C8B-B14F-4D97-AF65-F5344CB8AC3E}">
        <p14:creationId xmlns:p14="http://schemas.microsoft.com/office/powerpoint/2010/main" val="2927387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0DA7A-F874-5A9F-D5AF-6738BCD7B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BF6CDD6-C05D-03C2-D9E9-AC3641DE24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5655" y="1234637"/>
            <a:ext cx="10776475" cy="5139832"/>
          </a:xfrm>
        </p:spPr>
        <p:txBody>
          <a:bodyPr/>
          <a:lstStyle/>
          <a:p>
            <a:pPr marL="342900" indent="-342900" fontAlgn="t"/>
            <a:endParaRPr lang="en-IN" b="0" dirty="0"/>
          </a:p>
          <a:p>
            <a:pPr marL="342900" indent="-342900" fontAlgn="t"/>
            <a:r>
              <a:rPr lang="en-IN" dirty="0"/>
              <a:t>Pipitone, N. &amp; </a:t>
            </a:r>
            <a:r>
              <a:rPr lang="en-IN" dirty="0" err="1"/>
              <a:t>Houir</a:t>
            </a:r>
            <a:r>
              <a:rPr lang="en-IN" dirty="0"/>
              <a:t> Alami, G. (2024).</a:t>
            </a:r>
            <a:r>
              <a:rPr lang="en-IN" b="0" dirty="0"/>
              <a:t> </a:t>
            </a:r>
            <a:r>
              <a:rPr lang="en-IN" b="0" i="1" dirty="0" err="1"/>
              <a:t>LegalBench</a:t>
            </a:r>
            <a:r>
              <a:rPr lang="en-IN" b="0" i="1" dirty="0"/>
              <a:t>-RAG: A Benchmark for Retrieval-Augmented Generation in the Legal Domain.</a:t>
            </a:r>
            <a:br>
              <a:rPr lang="en-IN" b="0" dirty="0"/>
            </a:br>
            <a:r>
              <a:rPr lang="en-IN" dirty="0"/>
              <a:t>Relevance:</a:t>
            </a:r>
            <a:r>
              <a:rPr lang="en-IN" b="0" dirty="0"/>
              <a:t> </a:t>
            </a:r>
            <a:r>
              <a:rPr lang="en-IN" dirty="0"/>
              <a:t>One of the most relevant papers for your project.</a:t>
            </a:r>
            <a:r>
              <a:rPr lang="en-IN" b="0" dirty="0"/>
              <a:t> It specifically evaluates retrieval over legal documents and emphasizes retrieving precise, relevant legal text that can support citations.</a:t>
            </a:r>
          </a:p>
          <a:p>
            <a:pPr marL="342900" indent="-342900" fontAlgn="t"/>
            <a:r>
              <a:rPr lang="en-IN" dirty="0"/>
              <a:t>Guha, N. et al. (2023).</a:t>
            </a:r>
            <a:r>
              <a:rPr lang="en-IN" b="0" dirty="0"/>
              <a:t> </a:t>
            </a:r>
            <a:r>
              <a:rPr lang="en-IN" b="0" i="1" dirty="0" err="1"/>
              <a:t>LegalBench</a:t>
            </a:r>
            <a:r>
              <a:rPr lang="en-IN" b="0" i="1" dirty="0"/>
              <a:t>: A Collaboratively Built Benchmark for Measuring Legal Reasoning in Large Language Models.</a:t>
            </a:r>
            <a:br>
              <a:rPr lang="en-IN" b="0" dirty="0"/>
            </a:br>
            <a:r>
              <a:rPr lang="en-IN" dirty="0"/>
              <a:t>Relevance:</a:t>
            </a:r>
            <a:r>
              <a:rPr lang="en-IN" b="0" dirty="0"/>
              <a:t> Introduces a large benchmark specifically for investigating legal reasoning capabilities of LLMs, making it useful background for AI-assisted contract/compliance analysis.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BFD59E-A444-C158-9048-32F7F999D994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Literature Review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CBEBF1A-A2E3-4660-152D-9C48F37D31E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7DD1D53-C921-EAF5-EA6F-03CC9251F28B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RAG-Powered Vendor Compliance Auditor</a:t>
            </a:r>
          </a:p>
        </p:txBody>
      </p:sp>
    </p:spTree>
    <p:extLst>
      <p:ext uri="{BB962C8B-B14F-4D97-AF65-F5344CB8AC3E}">
        <p14:creationId xmlns:p14="http://schemas.microsoft.com/office/powerpoint/2010/main" val="3000305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944D8-50BF-F73A-7A3D-6794D0932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A55F94B-DA0B-5367-7A8F-4F1A10BD7E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5655" y="1234637"/>
            <a:ext cx="10776475" cy="5139832"/>
          </a:xfrm>
        </p:spPr>
        <p:txBody>
          <a:bodyPr/>
          <a:lstStyle/>
          <a:p>
            <a:pPr marL="342900" indent="-342900" fontAlgn="t"/>
            <a:r>
              <a:rPr lang="en-IN" dirty="0"/>
              <a:t>Liu, N. F. et al. (2023).</a:t>
            </a:r>
            <a:r>
              <a:rPr lang="en-IN" b="0" dirty="0"/>
              <a:t> </a:t>
            </a:r>
            <a:r>
              <a:rPr lang="en-IN" b="0" i="1" dirty="0"/>
              <a:t>Lost in the Middle: How Language Models Use Long Contexts.</a:t>
            </a:r>
            <a:r>
              <a:rPr lang="en-IN" b="0" dirty="0"/>
              <a:t> TACL.</a:t>
            </a:r>
            <a:br>
              <a:rPr lang="en-IN" b="0" dirty="0"/>
            </a:br>
            <a:r>
              <a:rPr lang="en-IN" dirty="0"/>
              <a:t>Relevance:</a:t>
            </a:r>
            <a:r>
              <a:rPr lang="en-IN" b="0" dirty="0"/>
              <a:t> Very relevant for contract analysis. The study shows that LLM performance can degrade depending on where important information occurs in a long context, supporting your use of chunking and retrieval instead of feeding entire contracts directly to an LLM.</a:t>
            </a:r>
          </a:p>
          <a:p>
            <a:pPr marL="342900" indent="-342900" fontAlgn="t"/>
            <a:r>
              <a:rPr lang="en-IN" dirty="0"/>
              <a:t>Huang, L. et al. (2023/2024).</a:t>
            </a:r>
            <a:r>
              <a:rPr lang="en-IN" b="0" dirty="0"/>
              <a:t> </a:t>
            </a:r>
            <a:r>
              <a:rPr lang="en-IN" b="0" i="1" dirty="0"/>
              <a:t>A Survey on Hallucination in Large Language Models: Principles, Taxonomy, Challenges, and Open Questions.</a:t>
            </a:r>
            <a:br>
              <a:rPr lang="en-IN" b="0" dirty="0"/>
            </a:br>
            <a:r>
              <a:rPr lang="en-IN" dirty="0"/>
              <a:t>Relevance:</a:t>
            </a:r>
            <a:r>
              <a:rPr lang="en-IN" b="0" dirty="0"/>
              <a:t> Reviews LLM hallucination, detection and mitigation and specifically discusses limitations of retrieval-augmented LLMs. This supports your requirement for evidence-backed compliance findings and human review.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E31BE1-92CE-DD4C-98A2-F185043F76E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Literature Review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22BA999-8246-ABD5-AEC4-DC89B1E692B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2A8378D-B176-B136-9E29-DA2C0437DE05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RAG-Powered Vendor Compliance Auditor</a:t>
            </a:r>
          </a:p>
        </p:txBody>
      </p:sp>
    </p:spTree>
    <p:extLst>
      <p:ext uri="{BB962C8B-B14F-4D97-AF65-F5344CB8AC3E}">
        <p14:creationId xmlns:p14="http://schemas.microsoft.com/office/powerpoint/2010/main" val="2762014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C1B61-AE00-6EBD-E7C1-0172DD8B3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2208333-070D-CFE0-399B-D9B2587BC5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5655" y="1234637"/>
            <a:ext cx="10776475" cy="5139832"/>
          </a:xfrm>
        </p:spPr>
        <p:txBody>
          <a:bodyPr/>
          <a:lstStyle/>
          <a:p>
            <a:pPr marL="342900" indent="-342900" fontAlgn="t"/>
            <a:r>
              <a:rPr lang="en-IN" dirty="0"/>
              <a:t>Park, M., Oh, H., Choi, E., &amp; Hwang, W. (2025).</a:t>
            </a:r>
            <a:r>
              <a:rPr lang="en-IN" b="0" dirty="0"/>
              <a:t> </a:t>
            </a:r>
            <a:r>
              <a:rPr lang="en-IN" b="0" i="1" dirty="0"/>
              <a:t>LRAGE: Legal Retrieval Augmented Generation Evaluation Tool.</a:t>
            </a:r>
            <a:br>
              <a:rPr lang="en-IN" b="0" dirty="0"/>
            </a:br>
            <a:r>
              <a:rPr lang="en-IN" dirty="0"/>
              <a:t>Relevance:</a:t>
            </a:r>
            <a:r>
              <a:rPr lang="en-IN" b="0" dirty="0"/>
              <a:t> Another particularly useful paper for your project because it focuses specifically on </a:t>
            </a:r>
            <a:r>
              <a:rPr lang="en-IN" dirty="0"/>
              <a:t>evaluating legal RAG systems</a:t>
            </a:r>
            <a:r>
              <a:rPr lang="en-IN" b="0" dirty="0"/>
              <a:t>, considering retrieval corpora, retrieval algorithms, </a:t>
            </a:r>
            <a:r>
              <a:rPr lang="en-IN" b="0" dirty="0" err="1"/>
              <a:t>rerankers</a:t>
            </a:r>
            <a:r>
              <a:rPr lang="en-IN" b="0" dirty="0"/>
              <a:t>, LLMs and evaluation metrics.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D8608A-9EE5-3CFF-E8E6-B92BB0E08885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Literature Review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5BFB2F9-914C-B547-7860-55FF08FF367D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BBB2DD0-6422-D45F-520F-BE120E539A8E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RAG-Powered Vendor Compliance Auditor</a:t>
            </a:r>
          </a:p>
        </p:txBody>
      </p:sp>
    </p:spTree>
    <p:extLst>
      <p:ext uri="{BB962C8B-B14F-4D97-AF65-F5344CB8AC3E}">
        <p14:creationId xmlns:p14="http://schemas.microsoft.com/office/powerpoint/2010/main" val="1955354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1"/>
            <a:ext cx="12254538" cy="6887838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617257" y="32106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3162886" y="1090231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555751" y="1295895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VIT Vellore and LTM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381908" y="1612785"/>
            <a:ext cx="11428184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36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Project Title</a:t>
            </a:r>
          </a:p>
          <a:p>
            <a:pPr lvl="0" algn="ctr"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Autonomous Cloud FinOps Remediation Agent</a:t>
            </a: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Team Member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Daniel Robin – T9925</a:t>
            </a: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414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81724" y="1425857"/>
            <a:ext cx="10624338" cy="4465275"/>
          </a:xfrm>
        </p:spPr>
        <p:txBody>
          <a:bodyPr/>
          <a:lstStyle/>
          <a:p>
            <a:pPr fontAlgn="t">
              <a:lnSpc>
                <a:spcPct val="100000"/>
              </a:lnSpc>
              <a:buNone/>
            </a:pPr>
            <a:r>
              <a:rPr lang="en-IN" b="0" dirty="0"/>
              <a:t>The </a:t>
            </a:r>
            <a:r>
              <a:rPr lang="en-IN" dirty="0">
                <a:solidFill>
                  <a:srgbClr val="1F4E79"/>
                </a:solidFill>
              </a:rPr>
              <a:t>Autonomous Cloud FinOps Remediation Agent </a:t>
            </a:r>
            <a:r>
              <a:rPr lang="en-IN" b="0" dirty="0"/>
              <a:t>is a policy-driven application that identifies cloud resource waste and recommends safe cost optimization actions.</a:t>
            </a:r>
          </a:p>
          <a:p>
            <a:pPr fontAlgn="t">
              <a:lnSpc>
                <a:spcPct val="100000"/>
              </a:lnSpc>
              <a:buNone/>
            </a:pPr>
            <a:r>
              <a:rPr lang="en-IN" b="0" dirty="0"/>
              <a:t>The system </a:t>
            </a:r>
            <a:r>
              <a:rPr lang="en-IN" b="0" dirty="0" err="1"/>
              <a:t>analyzes</a:t>
            </a:r>
            <a:r>
              <a:rPr lang="en-IN" b="0" dirty="0"/>
              <a:t> synthetic AWS and Azure telemetry data, applies FinOps policies, estimates potential savings, and generates reviewable remediation recommendations.</a:t>
            </a:r>
          </a:p>
          <a:p>
            <a:pPr marL="342900" lvl="0" indent="-342900" fontAlgn="t">
              <a:lnSpc>
                <a:spcPct val="100000"/>
              </a:lnSpc>
            </a:pPr>
            <a:r>
              <a:rPr lang="en-IN" dirty="0">
                <a:solidFill>
                  <a:srgbClr val="1F4E79"/>
                </a:solidFill>
              </a:rPr>
              <a:t>Key Technologies:</a:t>
            </a:r>
            <a:r>
              <a:rPr lang="en-IN" b="0" dirty="0">
                <a:solidFill>
                  <a:srgbClr val="1F4E79"/>
                </a:solidFill>
              </a:rPr>
              <a:t> </a:t>
            </a:r>
            <a:r>
              <a:rPr lang="en-IN" b="0" dirty="0"/>
              <a:t>Python, </a:t>
            </a:r>
            <a:r>
              <a:rPr lang="en-IN" b="0" dirty="0" err="1"/>
              <a:t>Pydantic</a:t>
            </a:r>
            <a:r>
              <a:rPr lang="en-IN" b="0" dirty="0"/>
              <a:t>, Pandas, YAML Policies, Jinja2, Terraform, </a:t>
            </a:r>
            <a:r>
              <a:rPr lang="en-IN" b="0" dirty="0" err="1"/>
              <a:t>Streamlit</a:t>
            </a:r>
            <a:endParaRPr lang="en-IN" b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RAG-Powered Vendor Compliance Auditor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52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E87C4-5BCF-A01F-92B2-8B3F37759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90CEB3C-9EB5-981E-701C-F40E6CE47DA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29850" y="1202553"/>
            <a:ext cx="10624338" cy="5139832"/>
          </a:xfrm>
        </p:spPr>
        <p:txBody>
          <a:bodyPr/>
          <a:lstStyle/>
          <a:p>
            <a:pPr algn="just" fontAlgn="t">
              <a:buNone/>
            </a:pPr>
            <a:r>
              <a:rPr lang="en-IN" dirty="0">
                <a:solidFill>
                  <a:srgbClr val="1F4E79"/>
                </a:solidFill>
              </a:rPr>
              <a:t>Problem Statement</a:t>
            </a:r>
          </a:p>
          <a:p>
            <a:pPr fontAlgn="t">
              <a:buNone/>
            </a:pPr>
            <a:r>
              <a:rPr lang="en-IN" b="0" dirty="0"/>
              <a:t>Organizations often spend unnecessary cloud costs due to:</a:t>
            </a:r>
          </a:p>
          <a:p>
            <a:pPr marL="342900" lvl="0" indent="-342900" fontAlgn="t"/>
            <a:r>
              <a:rPr lang="en-IN" b="0" dirty="0"/>
              <a:t>Idle compute resources</a:t>
            </a:r>
          </a:p>
          <a:p>
            <a:pPr marL="342900" lvl="0" indent="-342900" fontAlgn="t"/>
            <a:r>
              <a:rPr lang="en-IN" b="0" dirty="0"/>
              <a:t>Unattached storage volumes</a:t>
            </a:r>
          </a:p>
          <a:p>
            <a:pPr marL="342900" lvl="0" indent="-342900" fontAlgn="t"/>
            <a:r>
              <a:rPr lang="en-IN" b="0" dirty="0"/>
              <a:t>Old snapshots</a:t>
            </a:r>
          </a:p>
          <a:p>
            <a:pPr marL="342900" lvl="0" indent="-342900" fontAlgn="t"/>
            <a:r>
              <a:rPr lang="en-IN" b="0" dirty="0"/>
              <a:t>Missing governance tags</a:t>
            </a:r>
          </a:p>
          <a:p>
            <a:pPr marL="342900" lvl="0" indent="-342900" fontAlgn="t"/>
            <a:r>
              <a:rPr lang="en-IN" b="0" dirty="0"/>
              <a:t>Oversized cloud resources</a:t>
            </a:r>
          </a:p>
          <a:p>
            <a:pPr fontAlgn="t">
              <a:buNone/>
            </a:pPr>
            <a:r>
              <a:rPr lang="en-IN" b="0" dirty="0"/>
              <a:t>Manual identification of such waste is time-consuming and inconsistent.</a:t>
            </a:r>
          </a:p>
          <a:p>
            <a:pPr algn="just" fontAlgn="t">
              <a:buNone/>
            </a:pPr>
            <a:r>
              <a:rPr lang="en-IN" dirty="0">
                <a:solidFill>
                  <a:srgbClr val="1F4E79"/>
                </a:solidFill>
              </a:rPr>
              <a:t>Motivation</a:t>
            </a:r>
          </a:p>
          <a:p>
            <a:pPr marL="342900" lvl="0" indent="-342900" fontAlgn="t"/>
            <a:r>
              <a:rPr lang="en-IN" b="0" dirty="0"/>
              <a:t>Reduce cloud cost wastage</a:t>
            </a:r>
          </a:p>
          <a:p>
            <a:pPr marL="342900" lvl="0" indent="-342900" fontAlgn="t"/>
            <a:r>
              <a:rPr lang="en-IN" b="0" dirty="0"/>
              <a:t>Improve governance visibility</a:t>
            </a:r>
          </a:p>
          <a:p>
            <a:pPr marL="342900" lvl="0" indent="-342900" fontAlgn="t"/>
            <a:r>
              <a:rPr lang="en-IN" b="0" dirty="0"/>
              <a:t>Automate policy-based analysis</a:t>
            </a:r>
          </a:p>
          <a:p>
            <a:pPr marL="342900" lvl="0" indent="-342900" fontAlgn="t"/>
            <a:r>
              <a:rPr lang="en-IN" b="0" dirty="0"/>
              <a:t>Demonstrate practical FinOps concepts using synthetic data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F7F1F2-1FBD-C533-09A4-3FD1A90CD47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Problem Statement &amp; Motivation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85755D7-06E9-853F-2391-870843D83956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17CDFAD0-4538-FBC5-F736-1CD12135EEA9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RAG-Powered Vendor Compliance Auditor</a:t>
            </a:r>
          </a:p>
        </p:txBody>
      </p:sp>
    </p:spTree>
    <p:extLst>
      <p:ext uri="{BB962C8B-B14F-4D97-AF65-F5344CB8AC3E}">
        <p14:creationId xmlns:p14="http://schemas.microsoft.com/office/powerpoint/2010/main" val="3391825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2C4E0-DDEC-91A5-6FCB-F9C2135A9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08BF6E0-34C5-1CDF-C581-F6F957843EB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5655" y="1234637"/>
            <a:ext cx="10776475" cy="5139832"/>
          </a:xfrm>
        </p:spPr>
        <p:txBody>
          <a:bodyPr/>
          <a:lstStyle/>
          <a:p>
            <a:pPr algn="just" fontAlgn="t">
              <a:buNone/>
            </a:pPr>
            <a:r>
              <a:rPr lang="en-IN" dirty="0">
                <a:solidFill>
                  <a:srgbClr val="1F4E79"/>
                </a:solidFill>
              </a:rPr>
              <a:t>Project Objectives</a:t>
            </a:r>
          </a:p>
          <a:p>
            <a:pPr marL="342900" lvl="0" indent="-342900" fontAlgn="t"/>
            <a:r>
              <a:rPr lang="en-IN" b="0" dirty="0"/>
              <a:t>Load and validate cloud telemetry data</a:t>
            </a:r>
          </a:p>
          <a:p>
            <a:pPr marL="342900" lvl="0" indent="-342900" fontAlgn="t"/>
            <a:r>
              <a:rPr lang="en-IN" b="0" dirty="0"/>
              <a:t>Normalize resource information</a:t>
            </a:r>
          </a:p>
          <a:p>
            <a:pPr marL="342900" lvl="0" indent="-342900" fontAlgn="t"/>
            <a:r>
              <a:rPr lang="en-IN" b="0" dirty="0"/>
              <a:t>Apply FinOps policies to detect waste</a:t>
            </a:r>
          </a:p>
          <a:p>
            <a:pPr marL="342900" lvl="0" indent="-342900" fontAlgn="t"/>
            <a:r>
              <a:rPr lang="en-IN" b="0" dirty="0"/>
              <a:t>Generate optimization recommendations</a:t>
            </a:r>
          </a:p>
          <a:p>
            <a:pPr marL="342900" lvl="0" indent="-342900" fontAlgn="t"/>
            <a:r>
              <a:rPr lang="en-IN" b="0" dirty="0"/>
              <a:t>Estimate potential cost savings</a:t>
            </a:r>
          </a:p>
          <a:p>
            <a:pPr marL="342900" lvl="0" indent="-342900" fontAlgn="t"/>
            <a:r>
              <a:rPr lang="en-IN" b="0" dirty="0"/>
              <a:t>Produce reviewable Terraform remediation artifacts</a:t>
            </a:r>
          </a:p>
          <a:p>
            <a:pPr algn="just" fontAlgn="t">
              <a:buNone/>
            </a:pPr>
            <a:r>
              <a:rPr lang="en-IN" dirty="0">
                <a:solidFill>
                  <a:srgbClr val="1F4E79"/>
                </a:solidFill>
              </a:rPr>
              <a:t>Expected Outcome:</a:t>
            </a:r>
            <a:endParaRPr lang="en-IN" b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B15DF9-FEC1-6033-766C-3D1AB28C189A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Project Objectives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A43BBE8-1C3B-2365-7791-E88E5D603B5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D97E32D-C08D-D20C-22B0-73F13BF149E9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RAG-Powered Vendor Compliance Auditor</a:t>
            </a:r>
          </a:p>
        </p:txBody>
      </p:sp>
    </p:spTree>
    <p:extLst>
      <p:ext uri="{BB962C8B-B14F-4D97-AF65-F5344CB8AC3E}">
        <p14:creationId xmlns:p14="http://schemas.microsoft.com/office/powerpoint/2010/main" val="2089605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0B9F4-3BFA-67EA-14AC-41C465FE6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191E96C-5B37-2C89-0273-243FBF5B8A4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9869" y="1519450"/>
            <a:ext cx="5388238" cy="5139832"/>
          </a:xfrm>
        </p:spPr>
        <p:txBody>
          <a:bodyPr/>
          <a:lstStyle/>
          <a:p>
            <a:pPr fontAlgn="t">
              <a:buNone/>
            </a:pPr>
            <a:r>
              <a:rPr lang="en-IN" dirty="0">
                <a:solidFill>
                  <a:srgbClr val="1F4E79"/>
                </a:solidFill>
              </a:rPr>
              <a:t>Included</a:t>
            </a:r>
            <a:endParaRPr lang="en-IN" b="0" dirty="0">
              <a:solidFill>
                <a:srgbClr val="1F4E79"/>
              </a:solidFill>
            </a:endParaRPr>
          </a:p>
          <a:p>
            <a:pPr marL="342900" lvl="0" indent="-342900" fontAlgn="t"/>
            <a:r>
              <a:rPr lang="en-IN" b="0" dirty="0"/>
              <a:t>Synthetic AWS/Azure data</a:t>
            </a:r>
          </a:p>
          <a:p>
            <a:pPr marL="342900" lvl="0" indent="-342900" fontAlgn="t"/>
            <a:r>
              <a:rPr lang="en-IN" b="0" dirty="0"/>
              <a:t>Deterministic policy evaluation</a:t>
            </a:r>
          </a:p>
          <a:p>
            <a:pPr marL="342900" lvl="0" indent="-342900" fontAlgn="t"/>
            <a:r>
              <a:rPr lang="en-IN" b="0" dirty="0"/>
              <a:t>Cost-saving estimation</a:t>
            </a:r>
          </a:p>
          <a:p>
            <a:pPr marL="342900" lvl="0" indent="-342900" fontAlgn="t"/>
            <a:r>
              <a:rPr lang="en-IN" b="0" dirty="0" err="1"/>
              <a:t>Streamlit</a:t>
            </a:r>
            <a:r>
              <a:rPr lang="en-IN" b="0" dirty="0"/>
              <a:t> dashboard/reporting</a:t>
            </a:r>
          </a:p>
          <a:p>
            <a:pPr marL="0" lvl="0" indent="0" fontAlgn="t">
              <a:buNone/>
            </a:pPr>
            <a:endParaRPr lang="en-IN" b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34D23C-71A8-1C92-82C5-7486D3F7989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Scope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B0EFB08-CCE3-17B7-72F8-4DB3C6990056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10B83A4-9DC4-E223-A565-35EFFB5A29F4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RAG-Powered Vendor Compliance Auditor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35FCC9CC-5668-0BE4-15E1-4684080D88DD}"/>
              </a:ext>
            </a:extLst>
          </p:cNvPr>
          <p:cNvSpPr txBox="1">
            <a:spLocks/>
          </p:cNvSpPr>
          <p:nvPr/>
        </p:nvSpPr>
        <p:spPr>
          <a:xfrm>
            <a:off x="6093893" y="1519450"/>
            <a:ext cx="5388238" cy="513983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t">
              <a:buNone/>
            </a:pPr>
            <a:r>
              <a:rPr lang="en-IN" dirty="0">
                <a:solidFill>
                  <a:srgbClr val="1F4E79"/>
                </a:solidFill>
              </a:rPr>
              <a:t>Out of Scope</a:t>
            </a:r>
          </a:p>
          <a:p>
            <a:pPr marL="342900" lvl="0" indent="-342900" fontAlgn="t"/>
            <a:r>
              <a:rPr lang="en-IN" b="0" dirty="0"/>
              <a:t>Real cloud integrations</a:t>
            </a:r>
          </a:p>
          <a:p>
            <a:pPr marL="342900" lvl="0" indent="-342900" fontAlgn="t"/>
            <a:r>
              <a:rPr lang="en-IN" b="0" dirty="0"/>
              <a:t>Automatic remediation execution</a:t>
            </a:r>
          </a:p>
          <a:p>
            <a:pPr marL="342900" lvl="0" indent="-342900" fontAlgn="t"/>
            <a:r>
              <a:rPr lang="en-IN" b="0" dirty="0"/>
              <a:t>Production deployment</a:t>
            </a:r>
          </a:p>
        </p:txBody>
      </p:sp>
    </p:spTree>
    <p:extLst>
      <p:ext uri="{BB962C8B-B14F-4D97-AF65-F5344CB8AC3E}">
        <p14:creationId xmlns:p14="http://schemas.microsoft.com/office/powerpoint/2010/main" val="3980792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93111-B55C-85BE-709D-EB5CFA73B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DE8D59-DF52-4586-0ECA-9CE810C08AB9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Proposed Timeline (4 Weeks)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5AC4886-E7F0-3090-2A7D-B47FE8BFACAD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2A4B3A1-DDC5-DBE4-0959-316CEA548FED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RAG-Powered Vendor Compliance Auditor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A62C879-1DD6-063A-FC1D-BAB41CD4E013}"/>
              </a:ext>
            </a:extLst>
          </p:cNvPr>
          <p:cNvGraphicFramePr>
            <a:graphicFrameLocks noGrp="1"/>
          </p:cNvGraphicFramePr>
          <p:nvPr/>
        </p:nvGraphicFramePr>
        <p:xfrm>
          <a:off x="591618" y="2488533"/>
          <a:ext cx="11004550" cy="18809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00303">
                  <a:extLst>
                    <a:ext uri="{9D8B030D-6E8A-4147-A177-3AD203B41FA5}">
                      <a16:colId xmlns:a16="http://schemas.microsoft.com/office/drawing/2014/main" val="1619834262"/>
                    </a:ext>
                  </a:extLst>
                </a:gridCol>
                <a:gridCol w="6904247">
                  <a:extLst>
                    <a:ext uri="{9D8B030D-6E8A-4147-A177-3AD203B41FA5}">
                      <a16:colId xmlns:a16="http://schemas.microsoft.com/office/drawing/2014/main" val="19392536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effectLst/>
                        </a:rPr>
                        <a:t>Week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effectLst/>
                        </a:rPr>
                        <a:t>Activity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42356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effectLst/>
                        </a:rPr>
                        <a:t>Week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effectLst/>
                        </a:rPr>
                        <a:t>Project setup, synthetic dataset creation, UI prototype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54092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Week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Data validation, normalization, policy implementation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08805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Week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effectLst/>
                        </a:rPr>
                        <a:t>Waste detection, savings calculation, recommendation engine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86808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effectLst/>
                        </a:rPr>
                        <a:t>Week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ct val="119048"/>
                        </a:lnSpc>
                        <a:buNone/>
                      </a:pPr>
                      <a:r>
                        <a:rPr lang="en-IN" dirty="0">
                          <a:effectLst/>
                        </a:rPr>
                        <a:t>Testing, documentation, dashboard completion, presentation</a:t>
                      </a:r>
                      <a:endParaRPr lang="en-IN" sz="1050" b="0" i="0" dirty="0">
                        <a:effectLst/>
                        <a:latin typeface="Segoe UI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91536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4855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513A5-3AEC-15C7-BC4E-8E1878FB5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7CE1CEB-1631-6EC7-BD1E-BF2BED47CD3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5654" y="3063824"/>
            <a:ext cx="5855566" cy="3536594"/>
          </a:xfrm>
        </p:spPr>
        <p:txBody>
          <a:bodyPr/>
          <a:lstStyle/>
          <a:p>
            <a:pPr fontAlgn="t">
              <a:lnSpc>
                <a:spcPct val="70000"/>
              </a:lnSpc>
              <a:buNone/>
            </a:pPr>
            <a:r>
              <a:rPr lang="en-IN" dirty="0">
                <a:solidFill>
                  <a:srgbClr val="1F4E79"/>
                </a:solidFill>
              </a:rPr>
              <a:t>Data Understanding</a:t>
            </a:r>
          </a:p>
          <a:p>
            <a:pPr fontAlgn="t">
              <a:lnSpc>
                <a:spcPct val="70000"/>
              </a:lnSpc>
              <a:buNone/>
            </a:pPr>
            <a:r>
              <a:rPr lang="en-IN" b="0" dirty="0"/>
              <a:t>Contract data contains:</a:t>
            </a:r>
          </a:p>
          <a:p>
            <a:pPr marL="342900" lvl="0" indent="-342900" fontAlgn="t">
              <a:lnSpc>
                <a:spcPct val="70000"/>
              </a:lnSpc>
            </a:pPr>
            <a:r>
              <a:rPr lang="en-IN" b="0" dirty="0"/>
              <a:t>Vendor obligations</a:t>
            </a:r>
          </a:p>
          <a:p>
            <a:pPr marL="342900" lvl="0" indent="-342900" fontAlgn="t">
              <a:lnSpc>
                <a:spcPct val="70000"/>
              </a:lnSpc>
            </a:pPr>
            <a:r>
              <a:rPr lang="en-IN" b="0" dirty="0"/>
              <a:t>Security commitments</a:t>
            </a:r>
          </a:p>
          <a:p>
            <a:pPr marL="342900" lvl="0" indent="-342900" fontAlgn="t">
              <a:lnSpc>
                <a:spcPct val="70000"/>
              </a:lnSpc>
            </a:pPr>
            <a:r>
              <a:rPr lang="en-IN" b="0" dirty="0"/>
              <a:t>Data privacy clauses</a:t>
            </a:r>
          </a:p>
          <a:p>
            <a:pPr marL="342900" lvl="0" indent="-342900" fontAlgn="t">
              <a:lnSpc>
                <a:spcPct val="70000"/>
              </a:lnSpc>
            </a:pPr>
            <a:r>
              <a:rPr lang="en-IN" b="0" dirty="0"/>
              <a:t>Audit and compliance requirements</a:t>
            </a:r>
          </a:p>
          <a:p>
            <a:pPr marL="342900" lvl="0" indent="-342900" fontAlgn="t">
              <a:lnSpc>
                <a:spcPct val="70000"/>
              </a:lnSpc>
            </a:pPr>
            <a:r>
              <a:rPr lang="en-IN" b="0" dirty="0"/>
              <a:t>Personal information that requires redaction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F0F651-FAA7-EAA3-FD5D-F8DCFAD4248A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 Acquisition &amp; Understanding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73C2547-6197-4444-8BCC-49C4AE113DB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DD2652D-6EE4-C8E2-C2D5-AC11C218C7B0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RAG-Powered Vendor Compliance Auditor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AB8BF66B-4015-E99C-287C-D360F1E3B73B}"/>
              </a:ext>
            </a:extLst>
          </p:cNvPr>
          <p:cNvSpPr txBox="1">
            <a:spLocks/>
          </p:cNvSpPr>
          <p:nvPr/>
        </p:nvSpPr>
        <p:spPr>
          <a:xfrm>
            <a:off x="6561220" y="3069332"/>
            <a:ext cx="4808397" cy="21881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t">
              <a:lnSpc>
                <a:spcPct val="70000"/>
              </a:lnSpc>
              <a:buNone/>
            </a:pPr>
            <a:r>
              <a:rPr lang="en-IN" dirty="0">
                <a:solidFill>
                  <a:srgbClr val="1F4E79"/>
                </a:solidFill>
              </a:rPr>
              <a:t>Example Compliance Scenarios</a:t>
            </a:r>
          </a:p>
          <a:p>
            <a:pPr marL="342900" lvl="0" indent="-342900" fontAlgn="t">
              <a:lnSpc>
                <a:spcPct val="70000"/>
              </a:lnSpc>
            </a:pPr>
            <a:r>
              <a:rPr lang="en-IN" b="0" dirty="0"/>
              <a:t>Compliant clause</a:t>
            </a:r>
          </a:p>
          <a:p>
            <a:pPr marL="342900" lvl="0" indent="-342900" fontAlgn="t">
              <a:lnSpc>
                <a:spcPct val="70000"/>
              </a:lnSpc>
            </a:pPr>
            <a:r>
              <a:rPr lang="en-IN" b="0" dirty="0"/>
              <a:t>Non-compliant clause</a:t>
            </a:r>
          </a:p>
          <a:p>
            <a:pPr marL="342900" lvl="0" indent="-342900" fontAlgn="t">
              <a:lnSpc>
                <a:spcPct val="70000"/>
              </a:lnSpc>
            </a:pPr>
            <a:r>
              <a:rPr lang="en-IN" b="0" dirty="0"/>
              <a:t>Ambiguous clause</a:t>
            </a:r>
          </a:p>
          <a:p>
            <a:pPr marL="342900" lvl="0" indent="-342900" fontAlgn="t">
              <a:lnSpc>
                <a:spcPct val="70000"/>
              </a:lnSpc>
            </a:pPr>
            <a:r>
              <a:rPr lang="en-IN" b="0" dirty="0"/>
              <a:t>Missing requirement</a:t>
            </a: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B76B6CC7-1F6D-DC0D-26BC-E6A9EFB8143B}"/>
              </a:ext>
            </a:extLst>
          </p:cNvPr>
          <p:cNvSpPr txBox="1">
            <a:spLocks/>
          </p:cNvSpPr>
          <p:nvPr/>
        </p:nvSpPr>
        <p:spPr>
          <a:xfrm>
            <a:off x="517259" y="1301458"/>
            <a:ext cx="11153267" cy="16634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t">
              <a:lnSpc>
                <a:spcPct val="70000"/>
              </a:lnSpc>
              <a:buNone/>
            </a:pPr>
            <a:r>
              <a:rPr lang="en-IN" dirty="0">
                <a:solidFill>
                  <a:srgbClr val="1F4E79"/>
                </a:solidFill>
              </a:rPr>
              <a:t>Data Acquisition</a:t>
            </a:r>
          </a:p>
          <a:p>
            <a:pPr marL="342900" lvl="0" indent="-342900" fontAlgn="t">
              <a:lnSpc>
                <a:spcPct val="70000"/>
              </a:lnSpc>
            </a:pPr>
            <a:r>
              <a:rPr lang="en-IN" b="0" dirty="0"/>
              <a:t>Synthetic vendor agreements (MSAs and SLAs).</a:t>
            </a:r>
          </a:p>
          <a:p>
            <a:pPr marL="342900" lvl="0" indent="-342900" fontAlgn="t">
              <a:lnSpc>
                <a:spcPct val="70000"/>
              </a:lnSpc>
            </a:pPr>
            <a:r>
              <a:rPr lang="en-IN" b="0" dirty="0"/>
              <a:t>Synthetic enterprise security and compliance policies.</a:t>
            </a:r>
          </a:p>
          <a:p>
            <a:pPr marL="342900" lvl="0" indent="-342900" fontAlgn="t">
              <a:lnSpc>
                <a:spcPct val="70000"/>
              </a:lnSpc>
            </a:pPr>
            <a:r>
              <a:rPr lang="en-IN" b="0" dirty="0"/>
              <a:t>Sample contract clauses representing different compliance scenarios.</a:t>
            </a:r>
          </a:p>
        </p:txBody>
      </p:sp>
    </p:spTree>
    <p:extLst>
      <p:ext uri="{BB962C8B-B14F-4D97-AF65-F5344CB8AC3E}">
        <p14:creationId xmlns:p14="http://schemas.microsoft.com/office/powerpoint/2010/main" val="1807008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23C95-1134-F916-A617-122171291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83F7A05-04D8-041E-3F7F-A09B97FF3FB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5655" y="1234637"/>
            <a:ext cx="10776475" cy="5139832"/>
          </a:xfrm>
        </p:spPr>
        <p:txBody>
          <a:bodyPr/>
          <a:lstStyle/>
          <a:p>
            <a:pPr fontAlgn="t">
              <a:lnSpc>
                <a:spcPct val="70000"/>
              </a:lnSpc>
              <a:buNone/>
            </a:pPr>
            <a:r>
              <a:rPr lang="en-IN" dirty="0"/>
              <a:t>Data Preprocessing Steps</a:t>
            </a:r>
          </a:p>
          <a:p>
            <a:pPr marL="342900" lvl="0" indent="-342900" fontAlgn="t">
              <a:lnSpc>
                <a:spcPct val="70000"/>
              </a:lnSpc>
              <a:buFont typeface="+mj-lt"/>
              <a:buAutoNum type="arabicPeriod"/>
            </a:pPr>
            <a:r>
              <a:rPr lang="en-IN" b="0" dirty="0"/>
              <a:t>Contract Upload</a:t>
            </a:r>
          </a:p>
          <a:p>
            <a:pPr marL="342900" lvl="0" indent="-342900" fontAlgn="t">
              <a:lnSpc>
                <a:spcPct val="70000"/>
              </a:lnSpc>
              <a:buFont typeface="+mj-lt"/>
              <a:buAutoNum type="arabicPeriod"/>
            </a:pPr>
            <a:r>
              <a:rPr lang="en-IN" b="0" dirty="0"/>
              <a:t>PDF Text Extraction</a:t>
            </a:r>
          </a:p>
          <a:p>
            <a:pPr marL="342900" lvl="0" indent="-342900" fontAlgn="t">
              <a:lnSpc>
                <a:spcPct val="70000"/>
              </a:lnSpc>
              <a:buFont typeface="+mj-lt"/>
              <a:buAutoNum type="arabicPeriod"/>
            </a:pPr>
            <a:r>
              <a:rPr lang="en-IN" b="0" dirty="0"/>
              <a:t>Metadata Collection (page numbers, source information)</a:t>
            </a:r>
          </a:p>
          <a:p>
            <a:pPr marL="342900" lvl="0" indent="-342900" fontAlgn="t">
              <a:lnSpc>
                <a:spcPct val="70000"/>
              </a:lnSpc>
              <a:buFont typeface="+mj-lt"/>
              <a:buAutoNum type="arabicPeriod"/>
            </a:pPr>
            <a:r>
              <a:rPr lang="en-IN" b="0" dirty="0"/>
              <a:t>PII Detection using Presidio &amp; </a:t>
            </a:r>
            <a:r>
              <a:rPr lang="en-IN" b="0" dirty="0" err="1"/>
              <a:t>spaCy</a:t>
            </a:r>
            <a:endParaRPr lang="en-IN" b="0" dirty="0"/>
          </a:p>
          <a:p>
            <a:pPr marL="342900" lvl="0" indent="-342900" fontAlgn="t">
              <a:lnSpc>
                <a:spcPct val="70000"/>
              </a:lnSpc>
              <a:buFont typeface="+mj-lt"/>
              <a:buAutoNum type="arabicPeriod"/>
            </a:pPr>
            <a:r>
              <a:rPr lang="en-IN" b="0" dirty="0"/>
              <a:t>Text Redaction</a:t>
            </a:r>
          </a:p>
          <a:p>
            <a:pPr marL="342900" lvl="0" indent="-342900" fontAlgn="t">
              <a:lnSpc>
                <a:spcPct val="70000"/>
              </a:lnSpc>
              <a:buFont typeface="+mj-lt"/>
              <a:buAutoNum type="arabicPeriod"/>
            </a:pPr>
            <a:r>
              <a:rPr lang="en-IN" b="0" dirty="0"/>
              <a:t>Clause/Paragraph-Based Chunking</a:t>
            </a:r>
          </a:p>
          <a:p>
            <a:pPr marL="342900" lvl="0" indent="-342900" fontAlgn="t">
              <a:lnSpc>
                <a:spcPct val="70000"/>
              </a:lnSpc>
              <a:buFont typeface="+mj-lt"/>
              <a:buAutoNum type="arabicPeriod"/>
            </a:pPr>
            <a:r>
              <a:rPr lang="en-IN" b="0" dirty="0"/>
              <a:t>Embedding Generation using </a:t>
            </a:r>
            <a:r>
              <a:rPr lang="en-IN" b="0" dirty="0" err="1"/>
              <a:t>Ollama</a:t>
            </a:r>
            <a:r>
              <a:rPr lang="en-IN" b="0" dirty="0"/>
              <a:t> Granite Embeddings</a:t>
            </a:r>
          </a:p>
          <a:p>
            <a:pPr marL="342900" lvl="0" indent="-342900" fontAlgn="t">
              <a:lnSpc>
                <a:spcPct val="70000"/>
              </a:lnSpc>
              <a:buFont typeface="+mj-lt"/>
              <a:buAutoNum type="arabicPeriod"/>
            </a:pPr>
            <a:r>
              <a:rPr lang="en-IN" b="0" dirty="0"/>
              <a:t>Storage in </a:t>
            </a:r>
            <a:r>
              <a:rPr lang="en-IN" b="0" dirty="0" err="1"/>
              <a:t>ChromaDB</a:t>
            </a:r>
            <a:endParaRPr lang="en-IN" b="0" dirty="0"/>
          </a:p>
          <a:p>
            <a:pPr fontAlgn="t">
              <a:lnSpc>
                <a:spcPct val="70000"/>
              </a:lnSpc>
              <a:buNone/>
            </a:pPr>
            <a:r>
              <a:rPr lang="en-IN" dirty="0"/>
              <a:t>Benefits</a:t>
            </a:r>
          </a:p>
          <a:p>
            <a:pPr marL="342900" lvl="0" indent="-342900" fontAlgn="t">
              <a:lnSpc>
                <a:spcPct val="70000"/>
              </a:lnSpc>
            </a:pPr>
            <a:r>
              <a:rPr lang="en-IN" b="0" dirty="0"/>
              <a:t>Protects sensitive information.</a:t>
            </a:r>
          </a:p>
          <a:p>
            <a:pPr marL="342900" lvl="0" indent="-342900" fontAlgn="t">
              <a:lnSpc>
                <a:spcPct val="70000"/>
              </a:lnSpc>
            </a:pPr>
            <a:r>
              <a:rPr lang="en-IN" b="0" dirty="0"/>
              <a:t>Improves retrieval quality.</a:t>
            </a:r>
          </a:p>
          <a:p>
            <a:pPr marL="342900" lvl="0" indent="-342900" fontAlgn="t">
              <a:lnSpc>
                <a:spcPct val="70000"/>
              </a:lnSpc>
            </a:pPr>
            <a:r>
              <a:rPr lang="en-IN" b="0" dirty="0"/>
              <a:t>Enables efficient compliance analysis.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C8F700-9F1E-9447-9E65-1DE561C8B35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 Preprocessing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F95FBDB-65DC-0FA3-E77B-1D5F1745975B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1B221975-AC27-3A0D-9271-60A7B52DCB4C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RAG-Powered Vendor Compliance Auditor</a:t>
            </a:r>
          </a:p>
        </p:txBody>
      </p:sp>
    </p:spTree>
    <p:extLst>
      <p:ext uri="{BB962C8B-B14F-4D97-AF65-F5344CB8AC3E}">
        <p14:creationId xmlns:p14="http://schemas.microsoft.com/office/powerpoint/2010/main" val="3323440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1CD67-A9E1-D9D1-06A6-5F04E56FB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9D50531-6198-A0E3-6820-C61D04CD275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5655" y="1234637"/>
            <a:ext cx="10776475" cy="5139832"/>
          </a:xfrm>
        </p:spPr>
        <p:txBody>
          <a:bodyPr/>
          <a:lstStyle/>
          <a:p>
            <a:pPr fontAlgn="t">
              <a:buNone/>
            </a:pPr>
            <a:r>
              <a:rPr lang="en-IN" b="0" dirty="0"/>
              <a:t>The dataset will be </a:t>
            </a:r>
            <a:r>
              <a:rPr lang="en-IN" b="0" dirty="0" err="1"/>
              <a:t>analyzed</a:t>
            </a:r>
            <a:r>
              <a:rPr lang="en-IN" b="0" dirty="0"/>
              <a:t> to understand:</a:t>
            </a:r>
          </a:p>
          <a:p>
            <a:pPr marL="342900" lvl="0" indent="-342900" fontAlgn="t"/>
            <a:r>
              <a:rPr lang="en-IN" b="0" dirty="0"/>
              <a:t>Number of contracts available.</a:t>
            </a:r>
          </a:p>
          <a:p>
            <a:pPr marL="342900" lvl="0" indent="-342900" fontAlgn="t"/>
            <a:r>
              <a:rPr lang="en-IN" b="0" dirty="0"/>
              <a:t>Distribution of contract clauses.</a:t>
            </a:r>
          </a:p>
          <a:p>
            <a:pPr marL="342900" lvl="0" indent="-342900" fontAlgn="t"/>
            <a:r>
              <a:rPr lang="en-IN" b="0" dirty="0"/>
              <a:t>Frequency of policy-related keywords.</a:t>
            </a:r>
          </a:p>
          <a:p>
            <a:pPr marL="342900" lvl="0" indent="-342900" fontAlgn="t"/>
            <a:r>
              <a:rPr lang="en-IN" b="0" dirty="0"/>
              <a:t>Count of detected PII entities.</a:t>
            </a:r>
          </a:p>
          <a:p>
            <a:pPr marL="342900" lvl="0" indent="-342900" fontAlgn="t"/>
            <a:r>
              <a:rPr lang="en-IN" b="0" dirty="0"/>
              <a:t>Chunk statistics after preprocessing.</a:t>
            </a:r>
          </a:p>
          <a:p>
            <a:pPr marL="342900" lvl="0" indent="-342900" fontAlgn="t"/>
            <a:r>
              <a:rPr lang="en-IN" b="0" dirty="0"/>
              <a:t>Compliance category distribution: </a:t>
            </a:r>
          </a:p>
          <a:p>
            <a:pPr marL="742950" lvl="1" indent="-285750" fontAlgn="t"/>
            <a:r>
              <a:rPr lang="en-IN" dirty="0"/>
              <a:t>Compliant</a:t>
            </a:r>
          </a:p>
          <a:p>
            <a:pPr marL="742950" lvl="1" indent="-285750" fontAlgn="t"/>
            <a:r>
              <a:rPr lang="en-IN" dirty="0"/>
              <a:t>Non-Compliant</a:t>
            </a:r>
          </a:p>
          <a:p>
            <a:pPr marL="742950" lvl="1" indent="-285750" fontAlgn="t"/>
            <a:r>
              <a:rPr lang="en-IN" dirty="0"/>
              <a:t>Ambiguous</a:t>
            </a:r>
          </a:p>
          <a:p>
            <a:pPr marL="742950" lvl="1" indent="-285750" fontAlgn="t"/>
            <a:r>
              <a:rPr lang="en-IN" dirty="0"/>
              <a:t>Missing</a:t>
            </a:r>
          </a:p>
          <a:p>
            <a:pPr fontAlgn="t">
              <a:buNone/>
            </a:pPr>
            <a:r>
              <a:rPr lang="en-IN" dirty="0"/>
              <a:t>Key Insights Expected</a:t>
            </a:r>
          </a:p>
          <a:p>
            <a:pPr marL="342900" lvl="0" indent="-342900" fontAlgn="t"/>
            <a:r>
              <a:rPr lang="en-IN" b="0" dirty="0"/>
              <a:t>Identify common compliance topics.</a:t>
            </a:r>
          </a:p>
          <a:p>
            <a:pPr marL="342900" lvl="0" indent="-342900" fontAlgn="t"/>
            <a:r>
              <a:rPr lang="en-IN" b="0" dirty="0"/>
              <a:t>Understand contract structure and clause patterns.</a:t>
            </a:r>
          </a:p>
          <a:p>
            <a:pPr marL="342900" lvl="0" indent="-342900" fontAlgn="t"/>
            <a:r>
              <a:rPr lang="en-IN" b="0" dirty="0"/>
              <a:t>Validate readiness of data for the RAG pipeline.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86AB6E-AF55-1A09-72FE-57021CB973E7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Exploratory Data Analysis (EDA)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2C3ABD5-B37C-2501-1183-938BD69942A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B887D36-0039-DA6D-FE5C-0979F444D49E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RAG-Powered Vendor Compliance Auditor</a:t>
            </a:r>
          </a:p>
        </p:txBody>
      </p:sp>
    </p:spTree>
    <p:extLst>
      <p:ext uri="{BB962C8B-B14F-4D97-AF65-F5344CB8AC3E}">
        <p14:creationId xmlns:p14="http://schemas.microsoft.com/office/powerpoint/2010/main" val="450468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A4772-37AD-BEBE-0892-6E0F115CB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63EF565-8D5A-4C72-869A-249AAD0F11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5655" y="1234637"/>
            <a:ext cx="10776475" cy="5139832"/>
          </a:xfrm>
        </p:spPr>
        <p:txBody>
          <a:bodyPr/>
          <a:lstStyle/>
          <a:p>
            <a:pPr fontAlgn="t">
              <a:buNone/>
            </a:pPr>
            <a:r>
              <a:rPr lang="en-IN" dirty="0"/>
              <a:t>Conclusion</a:t>
            </a:r>
          </a:p>
          <a:p>
            <a:pPr fontAlgn="t">
              <a:buNone/>
            </a:pPr>
            <a:r>
              <a:rPr lang="en-IN" b="0" dirty="0"/>
              <a:t>The project demonstrates how Retrieval-Augmented Generation (RAG) can assist vendor compliance auditing by combining document retrieval, privacy protection, and AI-based analysis.</a:t>
            </a:r>
          </a:p>
          <a:p>
            <a:pPr fontAlgn="t">
              <a:buNone/>
            </a:pPr>
            <a:r>
              <a:rPr lang="en-IN" dirty="0"/>
              <a:t>Future Work</a:t>
            </a:r>
          </a:p>
          <a:p>
            <a:pPr marL="342900" lvl="0" indent="-342900" fontAlgn="t"/>
            <a:r>
              <a:rPr lang="en-IN" b="0" dirty="0"/>
              <a:t>Support additional file formats (DOCX, TXT).</a:t>
            </a:r>
          </a:p>
          <a:p>
            <a:pPr marL="342900" lvl="0" indent="-342900" fontAlgn="t"/>
            <a:r>
              <a:rPr lang="en-IN" b="0" dirty="0"/>
              <a:t>Improve policy coverage.</a:t>
            </a:r>
          </a:p>
          <a:p>
            <a:pPr marL="342900" lvl="0" indent="-342900" fontAlgn="t"/>
            <a:r>
              <a:rPr lang="en-IN" b="0" dirty="0"/>
              <a:t>Add advanced compliance metrics.</a:t>
            </a:r>
          </a:p>
          <a:p>
            <a:pPr marL="342900" lvl="0" indent="-342900" fontAlgn="t"/>
            <a:r>
              <a:rPr lang="en-IN" b="0" dirty="0"/>
              <a:t>Generate downloadable audit reports.</a:t>
            </a:r>
          </a:p>
          <a:p>
            <a:pPr marL="342900" lvl="0" indent="-342900" fontAlgn="t"/>
            <a:r>
              <a:rPr lang="en-IN" b="0" dirty="0"/>
              <a:t>Enhance retrieval accuracy and scalability.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6F09EA-5B59-B9E7-9820-07DF874EC34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Conclusion &amp; Future Work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97830DD-0FB3-22D7-D240-CF22ECBC6E81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45AA7D3-2351-30B5-C695-C11658D91B8D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RAG-Powered Vendor Compliance Auditor</a:t>
            </a:r>
          </a:p>
        </p:txBody>
      </p:sp>
    </p:spTree>
    <p:extLst>
      <p:ext uri="{BB962C8B-B14F-4D97-AF65-F5344CB8AC3E}">
        <p14:creationId xmlns:p14="http://schemas.microsoft.com/office/powerpoint/2010/main" val="2984975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AC3DC-65DD-A23D-9CB6-64FB1B1C4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B0D3BFE-BAA8-D57F-63E9-1013DD4199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5655" y="1234637"/>
            <a:ext cx="10776475" cy="5139832"/>
          </a:xfrm>
        </p:spPr>
        <p:txBody>
          <a:bodyPr/>
          <a:lstStyle/>
          <a:p>
            <a:pPr marL="342900" lvl="0" indent="-342900" fontAlgn="t"/>
            <a:r>
              <a:rPr lang="en-IN" b="0" dirty="0"/>
              <a:t>S. Deochake, “Cloud Cost Optimization: A Comprehensive Review of Strategies and Case Studies,” 2023. DOI: 10.2139/ssrn.4519171.</a:t>
            </a:r>
            <a:br>
              <a:rPr lang="en-IN" b="0" dirty="0"/>
            </a:br>
            <a:r>
              <a:rPr lang="en-IN" dirty="0"/>
              <a:t>Use for:</a:t>
            </a:r>
            <a:r>
              <a:rPr lang="en-IN" b="0" dirty="0"/>
              <a:t> Problem statement, motivation, cloud waste, and general cost-optimization strategies. The paper reviews cloud pricing, cost analysis, resource allocation, and optimization case studies. </a:t>
            </a:r>
          </a:p>
          <a:p>
            <a:pPr marL="342900" lvl="0" indent="-342900" fontAlgn="t"/>
            <a:r>
              <a:rPr lang="en-IN" b="0" dirty="0"/>
              <a:t>S. Deochake, “ABACUS: A FinOps Service for Cloud Cost Optimization,” arXiv:2501.14753, submitted December 2024. DOI: 10.48550/arXiv.2501.14753.</a:t>
            </a:r>
            <a:br>
              <a:rPr lang="en-IN" b="0" dirty="0"/>
            </a:br>
            <a:r>
              <a:rPr lang="en-IN" dirty="0"/>
              <a:t>Use for:</a:t>
            </a:r>
            <a:r>
              <a:rPr lang="en-IN" b="0" dirty="0"/>
              <a:t> FinOps automation, budget monitoring, Infrastructure-as-Code cost checks, and cloud-spending alerts.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235DFE-EC4A-1C7F-A877-AC7990C625A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Literature Review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ACA787-78E4-B56D-97FB-606DE363E951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3EF4F998-4319-1D82-8DBE-EAAECB1AF38E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RAG-Powered Vendor Compliance Auditor</a:t>
            </a:r>
          </a:p>
        </p:txBody>
      </p:sp>
    </p:spTree>
    <p:extLst>
      <p:ext uri="{BB962C8B-B14F-4D97-AF65-F5344CB8AC3E}">
        <p14:creationId xmlns:p14="http://schemas.microsoft.com/office/powerpoint/2010/main" val="2643764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82B4E-6AA1-E522-6E30-7B27D7FBB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4108A88-A89B-0108-CD71-EAEF068A9D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5655" y="1234637"/>
            <a:ext cx="10776475" cy="5139832"/>
          </a:xfrm>
        </p:spPr>
        <p:txBody>
          <a:bodyPr/>
          <a:lstStyle/>
          <a:p>
            <a:pPr marL="342900" indent="-342900" fontAlgn="t"/>
            <a:r>
              <a:rPr lang="en-IN" b="0" dirty="0"/>
              <a:t>N. P. A. Vo, M. </a:t>
            </a:r>
            <a:r>
              <a:rPr lang="en-IN" b="0" dirty="0" err="1"/>
              <a:t>Kesarwani</a:t>
            </a:r>
            <a:r>
              <a:rPr lang="en-IN" b="0" dirty="0"/>
              <a:t>, R. </a:t>
            </a:r>
            <a:r>
              <a:rPr lang="en-IN" b="0" dirty="0" err="1"/>
              <a:t>Mahindru</a:t>
            </a:r>
            <a:r>
              <a:rPr lang="en-IN" b="0" dirty="0"/>
              <a:t>, and C. Narayanaswami, “FinOps Agent: A Use-Case for IT Infrastructure and Cost Optimization,” arXiv:2510.25914, 2025. DOI: 10.48550/arXiv.2510.25914.</a:t>
            </a:r>
            <a:br>
              <a:rPr lang="en-IN" b="0" dirty="0"/>
            </a:br>
            <a:r>
              <a:rPr lang="en-IN" dirty="0"/>
              <a:t>Use for:</a:t>
            </a:r>
            <a:r>
              <a:rPr lang="en-IN" b="0" dirty="0"/>
              <a:t> The agent-based aspect of the project and the workflow from data retrieval through analysis and recommendation generation.</a:t>
            </a:r>
          </a:p>
          <a:p>
            <a:pPr marL="342900" indent="-342900" fontAlgn="t"/>
            <a:r>
              <a:rPr lang="en-IN" b="0" dirty="0"/>
              <a:t>V. Sivakumaran, “FinOps and Observability: Optimizing Cloud Resource Management for Cost Efficiency,” </a:t>
            </a:r>
            <a:r>
              <a:rPr lang="en-IN" b="0" i="1" dirty="0"/>
              <a:t>International Journal of Research in Computer Applications and Information Technology</a:t>
            </a:r>
            <a:r>
              <a:rPr lang="en-IN" b="0" dirty="0"/>
              <a:t>, vol. 8, no. 1, pp. 368–382, 2025. DOI: 10.34218/IJRCAIT_08_01_032.</a:t>
            </a:r>
            <a:br>
              <a:rPr lang="en-IN" b="0" dirty="0"/>
            </a:br>
            <a:r>
              <a:rPr lang="en-IN" dirty="0"/>
              <a:t>Use for:</a:t>
            </a:r>
            <a:r>
              <a:rPr lang="en-IN" b="0" dirty="0"/>
              <a:t> Combining monitoring, observability, financial accountability, and resource optimization.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DE40AF-F618-3A91-A436-1962E04F4455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Literature Review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7E33E78-FAB1-1C49-63E9-582B9ADCF80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BE0E481-2BBF-A80B-9EC5-F2CF15E30108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RAG-Powered Vendor Compliance Auditor</a:t>
            </a:r>
          </a:p>
        </p:txBody>
      </p:sp>
    </p:spTree>
    <p:extLst>
      <p:ext uri="{BB962C8B-B14F-4D97-AF65-F5344CB8AC3E}">
        <p14:creationId xmlns:p14="http://schemas.microsoft.com/office/powerpoint/2010/main" val="1122564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6AC6A-BC04-7CCA-300B-E28223C93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5C44E8B-D717-2D88-C740-31803E687DF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042" y="1234637"/>
            <a:ext cx="10941702" cy="5139832"/>
          </a:xfrm>
        </p:spPr>
        <p:txBody>
          <a:bodyPr/>
          <a:lstStyle/>
          <a:p>
            <a:pPr marL="342900" indent="-342900" fontAlgn="t"/>
            <a:r>
              <a:rPr lang="en-IN" b="0" dirty="0"/>
              <a:t>M. Upreti and O. Oteri, “Analytical Model for Optimizing Cloud Resource Allocation through Rightsizing and Long-Term Usage Forecasting,” </a:t>
            </a:r>
            <a:r>
              <a:rPr lang="en-IN" b="0" i="1" dirty="0" err="1"/>
              <a:t>Gyanshauryam</a:t>
            </a:r>
            <a:r>
              <a:rPr lang="en-IN" b="0" i="1" dirty="0"/>
              <a:t> International Scientific Refereed Research Journal</a:t>
            </a:r>
            <a:r>
              <a:rPr lang="en-IN" b="0" dirty="0"/>
              <a:t>, vol. 6, no. 1, pp. 400–424, 2023.</a:t>
            </a:r>
            <a:br>
              <a:rPr lang="en-IN" b="0" dirty="0"/>
            </a:br>
            <a:r>
              <a:rPr lang="en-IN" dirty="0"/>
              <a:t>Use for:</a:t>
            </a:r>
            <a:r>
              <a:rPr lang="en-IN" b="0" dirty="0"/>
              <a:t> Rightsizing, utilization analysis, workload forecasting, and balancing cost with resource requirements. </a:t>
            </a:r>
            <a:r>
              <a:rPr lang="en-IN" b="0" dirty="0">
                <a:hlinkClick r:id="rId2"/>
              </a:rPr>
              <a:t>[gisrrj.com]</a:t>
            </a:r>
            <a:r>
              <a:rPr lang="en-IN" b="0" dirty="0"/>
              <a:t>, </a:t>
            </a:r>
            <a:r>
              <a:rPr lang="en-IN" b="0" dirty="0">
                <a:hlinkClick r:id="rId3"/>
              </a:rPr>
              <a:t>[gisrrj.com]</a:t>
            </a:r>
            <a:endParaRPr lang="en-IN" b="0" dirty="0"/>
          </a:p>
          <a:p>
            <a:pPr marL="342900" indent="-342900" fontAlgn="t"/>
            <a:r>
              <a:rPr lang="en-IN" b="0" dirty="0"/>
              <a:t>I. Pintye, J. Kovács, and R. Lovas, “Enhancing Machine Learning-Based Autoscaling for Cloud Resource Orchestration,” </a:t>
            </a:r>
            <a:r>
              <a:rPr lang="en-IN" b="0" i="1" dirty="0"/>
              <a:t>Journal of Grid Computing</a:t>
            </a:r>
            <a:r>
              <a:rPr lang="en-IN" b="0" dirty="0"/>
              <a:t>, vol. 22, article 68, 2024. DOI: 10.1007/s10723-024-09783-1.</a:t>
            </a:r>
            <a:br>
              <a:rPr lang="en-IN" b="0" dirty="0"/>
            </a:br>
            <a:r>
              <a:rPr lang="en-IN" dirty="0"/>
              <a:t>Use for:</a:t>
            </a:r>
            <a:r>
              <a:rPr lang="en-IN" b="0" dirty="0"/>
              <a:t> Resource utilization, autoscaling, metric selection, cost-effectiveness, and maintaining quality of service.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AFD774-E7B5-E5DD-C742-860606949047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Literature Review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BE22539-BF82-984D-4B76-45D99EC43051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5C714B8-2B4C-11CC-5DAB-4A4885731B2E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RAG-Powered Vendor Compliance Auditor</a:t>
            </a:r>
          </a:p>
        </p:txBody>
      </p:sp>
    </p:spTree>
    <p:extLst>
      <p:ext uri="{BB962C8B-B14F-4D97-AF65-F5344CB8AC3E}">
        <p14:creationId xmlns:p14="http://schemas.microsoft.com/office/powerpoint/2010/main" val="2600159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B8786-00FB-78EC-B8D3-643FDFE9C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1C2E52B-2581-192A-0300-36FED8471A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042" y="1234637"/>
            <a:ext cx="10941702" cy="5139832"/>
          </a:xfrm>
        </p:spPr>
        <p:txBody>
          <a:bodyPr/>
          <a:lstStyle/>
          <a:p>
            <a:pPr marL="342900" indent="-342900" fontAlgn="t"/>
            <a:r>
              <a:rPr lang="en-IN" b="0" dirty="0"/>
              <a:t>S. Ponnusamy and M. </a:t>
            </a:r>
            <a:r>
              <a:rPr lang="en-IN" b="0" dirty="0" err="1"/>
              <a:t>Khoje</a:t>
            </a:r>
            <a:r>
              <a:rPr lang="en-IN" b="0" dirty="0"/>
              <a:t>, “Optimizing Cloud Costs with Machine Learning: Predictive Resource Scaling Strategies,” in </a:t>
            </a:r>
            <a:r>
              <a:rPr lang="en-IN" b="0" i="1" dirty="0"/>
              <a:t>2024 5th International Conference on Innovative Trends in Information Technology</a:t>
            </a:r>
            <a:r>
              <a:rPr lang="en-IN" b="0" dirty="0"/>
              <a:t>, 2024. DOI: 10.1109/ICITIIT61487.2024.10580717.</a:t>
            </a:r>
            <a:br>
              <a:rPr lang="en-IN" b="0" dirty="0"/>
            </a:br>
            <a:r>
              <a:rPr lang="en-IN" dirty="0"/>
              <a:t>Use for:</a:t>
            </a:r>
            <a:r>
              <a:rPr lang="en-IN" b="0" dirty="0"/>
              <a:t> Predictive scaling, utilization-based resource optimization, historical telemetry analysis, and automated scaling recommendations. </a:t>
            </a:r>
          </a:p>
          <a:p>
            <a:pPr marL="342900" indent="-342900" fontAlgn="t"/>
            <a:r>
              <a:rPr lang="en-IN" b="0" dirty="0"/>
              <a:t>N. K and G. A. Kumar, “Recent Improvements in Cloud Resource Optimization with Dynamic Workloads using Machine Learning,” in </a:t>
            </a:r>
            <a:r>
              <a:rPr lang="en-IN" b="0" i="1" dirty="0"/>
              <a:t>Proceedings of the 5th International Conference on Communication and Information Processing</a:t>
            </a:r>
            <a:r>
              <a:rPr lang="en-IN" b="0" dirty="0"/>
              <a:t>, 2023, posted 2024.</a:t>
            </a:r>
            <a:br>
              <a:rPr lang="en-IN" b="0" dirty="0"/>
            </a:br>
            <a:r>
              <a:rPr lang="en-IN" dirty="0"/>
              <a:t>Use for:</a:t>
            </a:r>
            <a:r>
              <a:rPr lang="en-IN" b="0" dirty="0"/>
              <a:t> Machine-learning approaches to workload prediction, resource allocation, operating-cost reduction, and dynamic cloud environments.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7993BE-9C15-BED5-9B17-0A00CFAA4DC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Literature Review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FCDB0FE-1CD1-2EE6-1C64-0A0D24717E6B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5E81E5C-F7A1-E85D-AC48-BEB6E8416307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RAG-Powered Vendor Compliance Auditor</a:t>
            </a:r>
          </a:p>
        </p:txBody>
      </p:sp>
    </p:spTree>
    <p:extLst>
      <p:ext uri="{BB962C8B-B14F-4D97-AF65-F5344CB8AC3E}">
        <p14:creationId xmlns:p14="http://schemas.microsoft.com/office/powerpoint/2010/main" val="518348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D52E6-DCFC-D220-63AD-D9AEBF234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C400182-EE58-AF82-CE81-5B27BB2D7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042" y="1234637"/>
            <a:ext cx="10941702" cy="5139832"/>
          </a:xfrm>
        </p:spPr>
        <p:txBody>
          <a:bodyPr/>
          <a:lstStyle/>
          <a:p>
            <a:pPr marL="342900" indent="-342900" fontAlgn="t"/>
            <a:endParaRPr lang="en-IN" b="0" dirty="0"/>
          </a:p>
          <a:p>
            <a:pPr marL="342900" indent="-342900" fontAlgn="t"/>
            <a:r>
              <a:rPr lang="en-IN" b="0" dirty="0"/>
              <a:t>P. Gaba, Himanshu, </a:t>
            </a:r>
            <a:r>
              <a:rPr lang="en-IN" b="0" dirty="0" err="1"/>
              <a:t>Preetitanya</a:t>
            </a:r>
            <a:r>
              <a:rPr lang="en-IN" b="0" dirty="0"/>
              <a:t>, and Y. Gupta, “Unlocking Efficiency: Multidimensional Cost Optimization Strategies for Cloud Infrastructure in Small and Medium-Sized Organizations,” 2023. DOI: 10.1109/ICACRS58579.2023.10404455.</a:t>
            </a:r>
            <a:br>
              <a:rPr lang="en-IN" b="0" dirty="0"/>
            </a:br>
            <a:r>
              <a:rPr lang="en-IN" dirty="0"/>
              <a:t>Use for:</a:t>
            </a:r>
            <a:r>
              <a:rPr lang="en-IN" b="0" dirty="0"/>
              <a:t> Optimization across compute, storage, and networking rather than evaluating only CPU utilization.</a:t>
            </a:r>
          </a:p>
          <a:p>
            <a:pPr marL="342900" indent="-342900" fontAlgn="t"/>
            <a:r>
              <a:rPr lang="en-IN" b="0" dirty="0"/>
              <a:t>“Cost Modelling and Optimisation for Cloud: A Graph-Based Approach,” 2024. DOI: 10.1186/s13677-024-00709-6.</a:t>
            </a:r>
            <a:br>
              <a:rPr lang="en-IN" b="0" dirty="0"/>
            </a:br>
            <a:r>
              <a:rPr lang="en-IN" dirty="0"/>
              <a:t>Use for:</a:t>
            </a:r>
            <a:r>
              <a:rPr lang="en-IN" b="0" dirty="0"/>
              <a:t> Cloud-cost modelling and representing optimization decisions through relationships among cloud resources.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19A70A-ACB0-F089-9F75-0EA788865DF3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Literature Review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A7BBCAD-2918-5998-7DC5-78CA05516E6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78E6B38-CC13-4F73-1FCE-422106A0AA6E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RAG-Powered Vendor Compliance Auditor</a:t>
            </a:r>
          </a:p>
        </p:txBody>
      </p:sp>
    </p:spTree>
    <p:extLst>
      <p:ext uri="{BB962C8B-B14F-4D97-AF65-F5344CB8AC3E}">
        <p14:creationId xmlns:p14="http://schemas.microsoft.com/office/powerpoint/2010/main" val="3705357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A75D9-FFA2-CD12-0BD8-2DAC840FC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6CE5AE7-7ACE-1AA8-AAC5-9177CCA072D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042" y="1234637"/>
            <a:ext cx="10941702" cy="5139832"/>
          </a:xfrm>
        </p:spPr>
        <p:txBody>
          <a:bodyPr/>
          <a:lstStyle/>
          <a:p>
            <a:pPr marL="342900" indent="-342900" fontAlgn="t"/>
            <a:r>
              <a:rPr lang="en-IN" b="0" dirty="0"/>
              <a:t>A. </a:t>
            </a:r>
            <a:r>
              <a:rPr lang="en-IN" b="0" dirty="0" err="1"/>
              <a:t>Verdet</a:t>
            </a:r>
            <a:r>
              <a:rPr lang="en-IN" b="0" dirty="0"/>
              <a:t>, M. </a:t>
            </a:r>
            <a:r>
              <a:rPr lang="en-IN" b="0" dirty="0" err="1"/>
              <a:t>Hamdaqa</a:t>
            </a:r>
            <a:r>
              <a:rPr lang="en-IN" b="0" dirty="0"/>
              <a:t>, L. Da Silva, and F. </a:t>
            </a:r>
            <a:r>
              <a:rPr lang="en-IN" b="0" dirty="0" err="1"/>
              <a:t>Khomh</a:t>
            </a:r>
            <a:r>
              <a:rPr lang="en-IN" b="0" dirty="0"/>
              <a:t>, “Exploring Security Practices in Infrastructure as Code: An Empirical Study,” 2023, associated journal DOI: 10.1007/s10664-024-10610-0.</a:t>
            </a:r>
            <a:br>
              <a:rPr lang="en-IN" b="0" dirty="0"/>
            </a:br>
            <a:r>
              <a:rPr lang="en-IN" dirty="0"/>
              <a:t>Use for:</a:t>
            </a:r>
            <a:r>
              <a:rPr lang="en-IN" b="0" dirty="0"/>
              <a:t> Terraform security, </a:t>
            </a:r>
            <a:r>
              <a:rPr lang="en-IN" b="0" dirty="0" err="1"/>
              <a:t>Checkov</a:t>
            </a:r>
            <a:r>
              <a:rPr lang="en-IN" b="0" dirty="0"/>
              <a:t>-based static analysis, cloud misconfiguration detection, and the importance of validating generated Infrastructure-as-Code.</a:t>
            </a:r>
          </a:p>
          <a:p>
            <a:pPr marL="342900" indent="-342900" fontAlgn="t"/>
            <a:r>
              <a:rPr lang="en-IN" b="0" dirty="0"/>
              <a:t>M. Caracciolo, “Policy as Code: How to Automate Cloud Compliance Verification with Open-Source Tools,” Master’s thesis, </a:t>
            </a:r>
            <a:r>
              <a:rPr lang="en-IN" b="0" dirty="0" err="1"/>
              <a:t>Politecnico</a:t>
            </a:r>
            <a:r>
              <a:rPr lang="en-IN" b="0" dirty="0"/>
              <a:t> di Torino, 2023.</a:t>
            </a:r>
            <a:br>
              <a:rPr lang="en-IN" b="0" dirty="0"/>
            </a:br>
            <a:r>
              <a:rPr lang="en-IN" dirty="0"/>
              <a:t>Use for:</a:t>
            </a:r>
            <a:r>
              <a:rPr lang="en-IN" b="0" dirty="0"/>
              <a:t> YAML policies, policy-as-code, automated compliance checks, CI/CD integration, </a:t>
            </a:r>
            <a:r>
              <a:rPr lang="en-IN" b="0" dirty="0" err="1"/>
              <a:t>IaC</a:t>
            </a:r>
            <a:r>
              <a:rPr lang="en-IN" b="0" dirty="0"/>
              <a:t> scanning, and cloud-governance rules. This is a thesis rather than a journal paper, but it is highly relevant to the project’s deterministic policy engine.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3C0287-8316-5D36-B4D4-447611971B73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Literature Review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8AD7D3F-2748-7E1F-3BD8-E80BD51AF71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39D05DD-414E-06DB-D9D8-CCE764E8B018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RAG-Powered Vendor Compliance Auditor</a:t>
            </a:r>
          </a:p>
        </p:txBody>
      </p:sp>
    </p:spTree>
    <p:extLst>
      <p:ext uri="{BB962C8B-B14F-4D97-AF65-F5344CB8AC3E}">
        <p14:creationId xmlns:p14="http://schemas.microsoft.com/office/powerpoint/2010/main" val="4008423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8B266-0E45-4E49-899C-B7E9424C8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E73A07D-B6AD-FE6D-A2F3-B807FF943A7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042" y="1234637"/>
            <a:ext cx="10941702" cy="5139832"/>
          </a:xfrm>
        </p:spPr>
        <p:txBody>
          <a:bodyPr/>
          <a:lstStyle/>
          <a:p>
            <a:pPr marL="342900" indent="-342900" fontAlgn="t"/>
            <a:r>
              <a:rPr lang="en-IN" b="0" dirty="0"/>
              <a:t>F. Romeo et al., “</a:t>
            </a:r>
            <a:r>
              <a:rPr lang="en-IN" b="0" dirty="0" err="1"/>
              <a:t>ARPaCCino</a:t>
            </a:r>
            <a:r>
              <a:rPr lang="en-IN" b="0" dirty="0"/>
              <a:t>: An Agentic-RAG for Policy as Code Compliance,” </a:t>
            </a:r>
            <a:r>
              <a:rPr lang="en-IN" b="0" dirty="0" err="1"/>
              <a:t>arXiv</a:t>
            </a:r>
            <a:r>
              <a:rPr lang="en-IN" b="0" dirty="0"/>
              <a:t>, 2025.</a:t>
            </a:r>
            <a:br>
              <a:rPr lang="en-IN" b="0" dirty="0"/>
            </a:br>
            <a:r>
              <a:rPr lang="en-IN" dirty="0"/>
              <a:t>Use for:</a:t>
            </a:r>
            <a:r>
              <a:rPr lang="en-IN" b="0" dirty="0"/>
              <a:t> Agent-based policy compliance, RAG-assisted policy generation, Terraform compliance evaluation, and external validation tools. Your project differs because the LLM does not make remediation decisions, but this paper is useful as related </a:t>
            </a:r>
            <a:r>
              <a:rPr lang="en-IN" b="0"/>
              <a:t>work.</a:t>
            </a:r>
          </a:p>
          <a:p>
            <a:pPr marL="342900" indent="-342900" fontAlgn="t"/>
            <a:r>
              <a:rPr lang="en-IN" b="0"/>
              <a:t>D</a:t>
            </a:r>
            <a:r>
              <a:rPr lang="en-IN" b="0" dirty="0"/>
              <a:t>. Saxena and A. K. Singh, “A Comprehensive Survey on Sustainable Resource Management in Cloud Computing Environments,” 2024.</a:t>
            </a:r>
            <a:br>
              <a:rPr lang="en-IN" b="0" dirty="0"/>
            </a:br>
            <a:r>
              <a:rPr lang="en-IN" dirty="0"/>
              <a:t>Use for:</a:t>
            </a:r>
            <a:r>
              <a:rPr lang="en-IN" b="0" dirty="0"/>
              <a:t> Resource utilization, workload scheduling, virtual-machine placement, energy optimization, and the sustainability benefits of reducing overprovisioned resources.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CD123D-4AF1-CD00-B70A-9D27BC33680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Literature Review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8BC260C-A6C7-B5D3-204F-4A9BEC1F251A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1B7B7DF8-FD44-0CCA-477F-2C7D28D0698C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RAG-Powered Vendor Compliance Auditor</a:t>
            </a:r>
          </a:p>
        </p:txBody>
      </p:sp>
    </p:spTree>
    <p:extLst>
      <p:ext uri="{BB962C8B-B14F-4D97-AF65-F5344CB8AC3E}">
        <p14:creationId xmlns:p14="http://schemas.microsoft.com/office/powerpoint/2010/main" val="2847329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526</TotalTime>
  <Words>2870</Words>
  <Application>Microsoft Office PowerPoint</Application>
  <PresentationFormat>Widescreen</PresentationFormat>
  <Paragraphs>316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2" baseType="lpstr">
      <vt:lpstr>Arial</vt:lpstr>
      <vt:lpstr>Calibri</vt:lpstr>
      <vt:lpstr>Calibri (Body)</vt:lpstr>
      <vt:lpstr>Frutiger 45 bold</vt:lpstr>
      <vt:lpstr>Frutiger LT Pro 45 Light</vt:lpstr>
      <vt:lpstr>Segoe UI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Daniel Robin</cp:lastModifiedBy>
  <cp:revision>17</cp:revision>
  <dcterms:created xsi:type="dcterms:W3CDTF">2024-05-13T10:33:11Z</dcterms:created>
  <dcterms:modified xsi:type="dcterms:W3CDTF">2026-10-05T14:59:31Z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  <property fmtid="{D5CDD505-2E9C-101B-9397-08002B2CF9AE}" pid="12" name="MSIP_Label_2b5eb709-8821-4075-8cfb-371bd0e7c7cf_Enabled">
    <vt:lpwstr>true</vt:lpwstr>
  </property>
  <property fmtid="{D5CDD505-2E9C-101B-9397-08002B2CF9AE}" pid="13" name="MSIP_Label_2b5eb709-8821-4075-8cfb-371bd0e7c7cf_SetDate">
    <vt:lpwstr>2026-09-06T17:40:53Z</vt:lpwstr>
  </property>
  <property fmtid="{D5CDD505-2E9C-101B-9397-08002B2CF9AE}" pid="14" name="MSIP_Label_2b5eb709-8821-4075-8cfb-371bd0e7c7cf_Method">
    <vt:lpwstr>Privileged</vt:lpwstr>
  </property>
  <property fmtid="{D5CDD505-2E9C-101B-9397-08002B2CF9AE}" pid="15" name="MSIP_Label_2b5eb709-8821-4075-8cfb-371bd0e7c7cf_Name">
    <vt:lpwstr>Personal</vt:lpwstr>
  </property>
  <property fmtid="{D5CDD505-2E9C-101B-9397-08002B2CF9AE}" pid="16" name="MSIP_Label_2b5eb709-8821-4075-8cfb-371bd0e7c7cf_SiteId">
    <vt:lpwstr>ff355289-721e-4dd7-a663-afec62ab9d54</vt:lpwstr>
  </property>
  <property fmtid="{D5CDD505-2E9C-101B-9397-08002B2CF9AE}" pid="17" name="MSIP_Label_2b5eb709-8821-4075-8cfb-371bd0e7c7cf_ActionId">
    <vt:lpwstr>b0146d00-9a01-4add-bb7d-252db911b2ae</vt:lpwstr>
  </property>
  <property fmtid="{D5CDD505-2E9C-101B-9397-08002B2CF9AE}" pid="18" name="MSIP_Label_2b5eb709-8821-4075-8cfb-371bd0e7c7cf_ContentBits">
    <vt:lpwstr>0</vt:lpwstr>
  </property>
  <property fmtid="{D5CDD505-2E9C-101B-9397-08002B2CF9AE}" pid="19" name="MSIP_Label_2b5eb709-8821-4075-8cfb-371bd0e7c7cf_Tag">
    <vt:lpwstr>10, 0, 1, 1</vt:lpwstr>
  </property>
</Properties>
</file>
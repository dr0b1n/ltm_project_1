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02" r:id="rId2"/>
    <p:sldId id="2147470503" r:id="rId3"/>
    <p:sldId id="2147470504" r:id="rId4"/>
    <p:sldId id="2147470505" r:id="rId5"/>
    <p:sldId id="2147470487" r:id="rId6"/>
    <p:sldId id="2147470494" r:id="rId7"/>
    <p:sldId id="2147470497" r:id="rId8"/>
    <p:sldId id="2147470498" r:id="rId9"/>
    <p:sldId id="2147470508" r:id="rId10"/>
    <p:sldId id="2147470500" r:id="rId11"/>
    <p:sldId id="2147470509" r:id="rId12"/>
    <p:sldId id="2147470499" r:id="rId13"/>
    <p:sldId id="2147470489" r:id="rId14"/>
    <p:sldId id="2147470492" r:id="rId15"/>
    <p:sldId id="2147470506" r:id="rId16"/>
    <p:sldId id="2147470507" r:id="rId17"/>
    <p:sldId id="2147470510" r:id="rId18"/>
    <p:sldId id="2147470511" r:id="rId19"/>
    <p:sldId id="2147470512" r:id="rId20"/>
    <p:sldId id="2147470513" r:id="rId21"/>
    <p:sldId id="2147470514" r:id="rId22"/>
    <p:sldId id="2147470516" r:id="rId23"/>
    <p:sldId id="214747051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1"/>
            <a:ext cx="12254538" cy="6887838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7257" y="32106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3162886" y="109023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555751" y="129589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Vellore 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1612785"/>
            <a:ext cx="11428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RAG-Powered Vendor Compliance Auditor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Daniel Robin – T9925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3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425857"/>
            <a:ext cx="10624338" cy="4465275"/>
          </a:xfrm>
        </p:spPr>
        <p:txBody>
          <a:bodyPr/>
          <a:lstStyle/>
          <a:p>
            <a:pPr algn="just" fontAlgn="t">
              <a:buNone/>
            </a:pPr>
            <a:r>
              <a:rPr lang="en-IN" b="0" dirty="0"/>
              <a:t>The </a:t>
            </a:r>
            <a:r>
              <a:rPr lang="en-IN" dirty="0">
                <a:solidFill>
                  <a:srgbClr val="1F4E79"/>
                </a:solidFill>
              </a:rPr>
              <a:t>RAG-Powered Vendor Compliance Auditor</a:t>
            </a:r>
            <a:r>
              <a:rPr lang="en-IN" b="0" dirty="0">
                <a:solidFill>
                  <a:srgbClr val="1F4E79"/>
                </a:solidFill>
              </a:rPr>
              <a:t> </a:t>
            </a:r>
            <a:r>
              <a:rPr lang="en-IN" b="0" dirty="0"/>
              <a:t>is a simple AI-based application that helps review vendor contracts against organizational compliance policies. It uses Retrieval-Augmented Generation (RAG) to retrieve relevant clauses and generate evidence-based compliance findings while protecting sensitive information through PII redaction. </a:t>
            </a:r>
          </a:p>
          <a:p>
            <a:pPr algn="just" fontAlgn="t">
              <a:buNone/>
            </a:pPr>
            <a:endParaRPr lang="en-IN" b="0" dirty="0"/>
          </a:p>
          <a:p>
            <a:pPr fontAlgn="t">
              <a:buNone/>
            </a:pPr>
            <a:r>
              <a:rPr lang="en-IN" dirty="0">
                <a:solidFill>
                  <a:srgbClr val="1F4E79"/>
                </a:solidFill>
              </a:rPr>
              <a:t>Key Technologies:</a:t>
            </a:r>
            <a:r>
              <a:rPr lang="en-IN" b="0" dirty="0">
                <a:solidFill>
                  <a:srgbClr val="1F4E79"/>
                </a:solidFill>
              </a:rPr>
              <a:t> </a:t>
            </a:r>
            <a:r>
              <a:rPr lang="en-IN" b="0" dirty="0" err="1"/>
              <a:t>Streamlit</a:t>
            </a:r>
            <a:r>
              <a:rPr lang="en-IN" b="0" dirty="0"/>
              <a:t>, Presidio, </a:t>
            </a:r>
            <a:r>
              <a:rPr lang="en-IN" b="0" dirty="0" err="1"/>
              <a:t>spaCy</a:t>
            </a:r>
            <a:r>
              <a:rPr lang="en-IN" b="0" dirty="0"/>
              <a:t>, </a:t>
            </a:r>
            <a:r>
              <a:rPr lang="en-IN" b="0" dirty="0" err="1"/>
              <a:t>Ollama</a:t>
            </a:r>
            <a:r>
              <a:rPr lang="en-IN" b="0" dirty="0"/>
              <a:t>, </a:t>
            </a:r>
            <a:r>
              <a:rPr lang="en-IN" b="0" dirty="0" err="1"/>
              <a:t>ChromaDB</a:t>
            </a:r>
            <a:r>
              <a:rPr lang="en-IN" b="0" dirty="0"/>
              <a:t>, and RAG.</a:t>
            </a:r>
          </a:p>
          <a:p>
            <a:pPr fontAlgn="t">
              <a:buNone/>
            </a:pPr>
            <a:r>
              <a:rPr lang="en-IN" dirty="0">
                <a:solidFill>
                  <a:srgbClr val="1F4E79"/>
                </a:solidFill>
              </a:rPr>
              <a:t>Purpose:</a:t>
            </a:r>
            <a:r>
              <a:rPr lang="en-IN" b="0" dirty="0"/>
              <a:t> To demonstrate an end-to-end AI-powered compliance auditing workflow using synthetic contract 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33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87C4-5BCF-A01F-92B2-8B3F377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0CEB3C-9EB5-981E-701C-F40E6CE47D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9850" y="1202553"/>
            <a:ext cx="10624338" cy="5139832"/>
          </a:xfrm>
        </p:spPr>
        <p:txBody>
          <a:bodyPr/>
          <a:lstStyle/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Problem Statement</a:t>
            </a:r>
          </a:p>
          <a:p>
            <a:pPr algn="just" fontAlgn="t">
              <a:buNone/>
            </a:pPr>
            <a:r>
              <a:rPr lang="en-IN" b="0" dirty="0"/>
              <a:t>Organizations regularly review vendor contracts such as MSAs and SLAs to ensure compliance with internal security and privacy policies.</a:t>
            </a:r>
          </a:p>
          <a:p>
            <a:pPr algn="just" fontAlgn="t">
              <a:buNone/>
            </a:pPr>
            <a:r>
              <a:rPr lang="en-IN" b="0" dirty="0"/>
              <a:t>Manual contract review is time-consuming, inconsistent, and may overlook important risks.</a:t>
            </a:r>
          </a:p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Motivation</a:t>
            </a:r>
          </a:p>
          <a:p>
            <a:pPr marL="342900" lvl="0" indent="-342900" algn="just" fontAlgn="t"/>
            <a:r>
              <a:rPr lang="en-IN" b="0" dirty="0"/>
              <a:t>Reduce effort required for contract compliance reviews.</a:t>
            </a:r>
          </a:p>
          <a:p>
            <a:pPr marL="342900" lvl="0" indent="-342900" algn="just" fontAlgn="t"/>
            <a:r>
              <a:rPr lang="en-IN" b="0" dirty="0"/>
              <a:t>Improve consistency in identifying policy violations.</a:t>
            </a:r>
          </a:p>
          <a:p>
            <a:pPr marL="342900" lvl="0" indent="-342900" algn="just" fontAlgn="t"/>
            <a:r>
              <a:rPr lang="en-IN" b="0" dirty="0"/>
              <a:t>Provide evidence-backed compliance findings.</a:t>
            </a:r>
          </a:p>
          <a:p>
            <a:pPr marL="342900" lvl="0" indent="-342900" algn="just" fontAlgn="t"/>
            <a:r>
              <a:rPr lang="en-IN" b="0" dirty="0"/>
              <a:t>Demonstrate how RAG (Retrieval-Augmented Generation) can support compliance auditing.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7F1F2-1FBD-C533-09A4-3FD1A90CD4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 &amp; Motivation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5755D7-06E9-853F-2391-870843D839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CDFAD0-4538-FBC5-F736-1CD12135EEA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87389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C4E0-DDEC-91A5-6FCB-F9C2135A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8BF6E0-34C5-1CDF-C581-F6F957843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Project Objectives</a:t>
            </a:r>
          </a:p>
          <a:p>
            <a:pPr marL="342900" lvl="0" indent="-342900" algn="just" fontAlgn="t"/>
            <a:r>
              <a:rPr lang="en-IN" b="0" dirty="0"/>
              <a:t>Upload and process vendor contract documents.</a:t>
            </a:r>
          </a:p>
          <a:p>
            <a:pPr marL="342900" lvl="0" indent="-342900" algn="just" fontAlgn="t"/>
            <a:r>
              <a:rPr lang="en-IN" b="0" dirty="0"/>
              <a:t>Extract contract text and metadata from PDF files.</a:t>
            </a:r>
          </a:p>
          <a:p>
            <a:pPr marL="342900" lvl="0" indent="-342900" algn="just" fontAlgn="t"/>
            <a:r>
              <a:rPr lang="en-IN" b="0" dirty="0"/>
              <a:t>Detect and redact sensitive information using Presidio and </a:t>
            </a:r>
            <a:r>
              <a:rPr lang="en-IN" b="0" dirty="0" err="1"/>
              <a:t>spaCy</a:t>
            </a:r>
            <a:r>
              <a:rPr lang="en-IN" b="0" dirty="0"/>
              <a:t>.</a:t>
            </a:r>
          </a:p>
          <a:p>
            <a:pPr marL="342900" lvl="0" indent="-342900" algn="just" fontAlgn="t"/>
            <a:r>
              <a:rPr lang="en-IN" b="0" dirty="0"/>
              <a:t>Generate embeddings and store contract chunks in a vector database.</a:t>
            </a:r>
          </a:p>
          <a:p>
            <a:pPr marL="342900" lvl="0" indent="-342900" algn="just" fontAlgn="t"/>
            <a:r>
              <a:rPr lang="en-IN" b="0" dirty="0"/>
              <a:t>Retrieve relevant clauses for policy verification.</a:t>
            </a:r>
          </a:p>
          <a:p>
            <a:pPr marL="342900" lvl="0" indent="-342900" algn="just" fontAlgn="t"/>
            <a:r>
              <a:rPr lang="en-IN" b="0" dirty="0"/>
              <a:t>Use a local LLM to generate compliance findings.</a:t>
            </a:r>
          </a:p>
          <a:p>
            <a:pPr marL="342900" lvl="0" indent="-342900" algn="just" fontAlgn="t"/>
            <a:r>
              <a:rPr lang="en-IN" b="0" dirty="0"/>
              <a:t>Present audit results with supporting evidence and recommendations.</a:t>
            </a:r>
          </a:p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Expected Outcome: </a:t>
            </a:r>
            <a:r>
              <a:rPr lang="en-IN" b="0" dirty="0"/>
              <a:t>A simple local-first application that demonstrates an AI-assisted compliance auditing workflow.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15DF9-FEC1-6033-766C-3D1AB28C189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43BBE8-1C3B-2365-7791-E88E5D603B5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97E32D-C08D-D20C-22B0-73F13BF149E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94652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51893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Module: Vendor Contract Compliance Analysis</a:t>
            </a:r>
          </a:p>
          <a:p>
            <a:pPr marL="342900" lvl="0" indent="-342900" fontAlgn="t"/>
            <a:r>
              <a:rPr lang="en-IN" dirty="0">
                <a:highlight>
                  <a:srgbClr val="FFFFFF"/>
                </a:highlight>
              </a:rPr>
              <a:t>Document Extraction:</a:t>
            </a:r>
            <a:r>
              <a:rPr lang="en-IN" b="0" dirty="0">
                <a:highlight>
                  <a:srgbClr val="FFFFFF"/>
                </a:highlight>
              </a:rPr>
              <a:t> PDF validation and page-level text extraction</a:t>
            </a:r>
          </a:p>
          <a:p>
            <a:pPr marL="342900" lvl="0" indent="-342900" fontAlgn="t"/>
            <a:r>
              <a:rPr lang="en-IN" dirty="0">
                <a:highlight>
                  <a:srgbClr val="FFFFFF"/>
                </a:highlight>
              </a:rPr>
              <a:t>PII Redaction:</a:t>
            </a:r>
            <a:r>
              <a:rPr lang="en-IN" b="0" dirty="0">
                <a:highlight>
                  <a:srgbClr val="FFFFFF"/>
                </a:highlight>
              </a:rPr>
              <a:t> Presidio and </a:t>
            </a:r>
            <a:r>
              <a:rPr lang="en-IN" b="0" dirty="0" err="1">
                <a:highlight>
                  <a:srgbClr val="FFFFFF"/>
                </a:highlight>
              </a:rPr>
              <a:t>spaCy</a:t>
            </a:r>
            <a:endParaRPr lang="en-IN" b="0" dirty="0">
              <a:highlight>
                <a:srgbClr val="FFFFFF"/>
              </a:highlight>
            </a:endParaRPr>
          </a:p>
          <a:p>
            <a:pPr marL="342900" lvl="0" indent="-342900" fontAlgn="t"/>
            <a:r>
              <a:rPr lang="en-IN" dirty="0">
                <a:highlight>
                  <a:srgbClr val="FFFFFF"/>
                </a:highlight>
              </a:rPr>
              <a:t>Chunking:</a:t>
            </a:r>
            <a:r>
              <a:rPr lang="en-IN" b="0" dirty="0">
                <a:highlight>
                  <a:srgbClr val="FFFFFF"/>
                </a:highlight>
              </a:rPr>
              <a:t> Paragraph-based sanitized chunks</a:t>
            </a:r>
          </a:p>
          <a:p>
            <a:pPr marL="342900" lvl="0" indent="-342900" fontAlgn="t"/>
            <a:r>
              <a:rPr lang="en-IN" dirty="0">
                <a:highlight>
                  <a:srgbClr val="FFFFFF"/>
                </a:highlight>
              </a:rPr>
              <a:t>Embedding:</a:t>
            </a:r>
            <a:r>
              <a:rPr lang="en-IN" b="0" dirty="0">
                <a:highlight>
                  <a:srgbClr val="FFFFFF"/>
                </a:highlight>
              </a:rPr>
              <a:t> </a:t>
            </a:r>
            <a:r>
              <a:rPr lang="en-IN" b="0" dirty="0" err="1">
                <a:highlight>
                  <a:srgbClr val="FFFFFF"/>
                </a:highlight>
              </a:rPr>
              <a:t>Ollama</a:t>
            </a:r>
            <a:r>
              <a:rPr lang="en-IN" b="0" dirty="0">
                <a:highlight>
                  <a:srgbClr val="FFFFFF"/>
                </a:highlight>
              </a:rPr>
              <a:t> granite-embedding:30m</a:t>
            </a:r>
          </a:p>
          <a:p>
            <a:pPr marL="342900" lvl="0" indent="-342900" fontAlgn="t"/>
            <a:r>
              <a:rPr lang="en-IN" dirty="0">
                <a:highlight>
                  <a:srgbClr val="FFFFFF"/>
                </a:highlight>
              </a:rPr>
              <a:t>Vector Storage:</a:t>
            </a:r>
            <a:r>
              <a:rPr lang="en-IN" b="0" dirty="0">
                <a:highlight>
                  <a:srgbClr val="FFFFFF"/>
                </a:highlight>
              </a:rPr>
              <a:t> </a:t>
            </a:r>
            <a:r>
              <a:rPr lang="en-IN" b="0" dirty="0" err="1">
                <a:highlight>
                  <a:srgbClr val="FFFFFF"/>
                </a:highlight>
              </a:rPr>
              <a:t>ChromaDB</a:t>
            </a:r>
            <a:endParaRPr lang="en-IN" b="0" dirty="0">
              <a:highlight>
                <a:srgbClr val="FFFFFF"/>
              </a:highlight>
            </a:endParaRPr>
          </a:p>
          <a:p>
            <a:pPr marL="342900" lvl="0" indent="-342900" fontAlgn="t"/>
            <a:r>
              <a:rPr lang="en-IN" dirty="0">
                <a:highlight>
                  <a:srgbClr val="FFFFFF"/>
                </a:highlight>
              </a:rPr>
              <a:t>Retrieval:</a:t>
            </a:r>
            <a:r>
              <a:rPr lang="en-IN" b="0" dirty="0">
                <a:highlight>
                  <a:srgbClr val="FFFFFF"/>
                </a:highlight>
              </a:rPr>
              <a:t> Top-three policy-relevant chunks</a:t>
            </a:r>
          </a:p>
          <a:p>
            <a:pPr marL="342900" lvl="0" indent="-342900" fontAlgn="t"/>
            <a:r>
              <a:rPr lang="en-IN" dirty="0">
                <a:highlight>
                  <a:srgbClr val="FFFFFF"/>
                </a:highlight>
              </a:rPr>
              <a:t>Compliance Analysis:</a:t>
            </a:r>
            <a:r>
              <a:rPr lang="en-IN" b="0" dirty="0">
                <a:highlight>
                  <a:srgbClr val="FFFFFF"/>
                </a:highlight>
              </a:rPr>
              <a:t> Local </a:t>
            </a:r>
            <a:r>
              <a:rPr lang="en-IN" b="0" dirty="0" err="1">
                <a:highlight>
                  <a:srgbClr val="FFFFFF"/>
                </a:highlight>
              </a:rPr>
              <a:t>Ollama</a:t>
            </a:r>
            <a:r>
              <a:rPr lang="en-IN" b="0" dirty="0">
                <a:highlight>
                  <a:srgbClr val="FFFFFF"/>
                </a:highlight>
              </a:rPr>
              <a:t> instruction model</a:t>
            </a:r>
          </a:p>
          <a:p>
            <a:pPr marL="342900" lvl="0" indent="-342900" fontAlgn="t"/>
            <a:r>
              <a:rPr lang="en-IN" dirty="0">
                <a:highlight>
                  <a:srgbClr val="FFFFFF"/>
                </a:highlight>
              </a:rPr>
              <a:t>Validation and UI:</a:t>
            </a:r>
            <a:r>
              <a:rPr lang="en-IN" b="0" dirty="0">
                <a:highlight>
                  <a:srgbClr val="FFFFFF"/>
                </a:highlight>
              </a:rPr>
              <a:t> </a:t>
            </a:r>
            <a:r>
              <a:rPr lang="en-IN" b="0" dirty="0" err="1">
                <a:highlight>
                  <a:srgbClr val="FFFFFF"/>
                </a:highlight>
              </a:rPr>
              <a:t>Pydantic</a:t>
            </a:r>
            <a:r>
              <a:rPr lang="en-IN" b="0" dirty="0">
                <a:highlight>
                  <a:srgbClr val="FFFFFF"/>
                </a:highlight>
              </a:rPr>
              <a:t> and </a:t>
            </a:r>
            <a:r>
              <a:rPr lang="en-IN" b="0" dirty="0" err="1">
                <a:highlight>
                  <a:srgbClr val="FFFFFF"/>
                </a:highlight>
              </a:rPr>
              <a:t>Streamlit</a:t>
            </a:r>
            <a:endParaRPr lang="en-IN" b="0" dirty="0">
              <a:highlight>
                <a:srgbClr val="FFFFFF"/>
              </a:highlight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and Components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5084230"/>
          </a:xfrm>
        </p:spPr>
        <p:txBody>
          <a:bodyPr/>
          <a:lstStyle/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Upload and validate a text-based PDF</a:t>
            </a:r>
          </a:p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Extract text with page metadata</a:t>
            </a:r>
          </a:p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Detect and replace approved PII types</a:t>
            </a:r>
          </a:p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Divide sanitized text into paragraph-based chunks</a:t>
            </a:r>
          </a:p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Generate local 384-dimensional embeddings</a:t>
            </a:r>
          </a:p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Store sanitized chunks in </a:t>
            </a:r>
            <a:r>
              <a:rPr lang="en-IN" b="0" dirty="0" err="1"/>
              <a:t>ChromaDB</a:t>
            </a:r>
            <a:endParaRPr lang="en-IN" b="0" dirty="0"/>
          </a:p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Retrieve the top three chunks for a selected policy</a:t>
            </a:r>
          </a:p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Generate a structured finding using a local LLM</a:t>
            </a:r>
          </a:p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Validate the finding with </a:t>
            </a:r>
            <a:r>
              <a:rPr lang="en-IN" b="0" dirty="0" err="1"/>
              <a:t>Pydantic</a:t>
            </a:r>
            <a:endParaRPr lang="en-IN" b="0" dirty="0"/>
          </a:p>
          <a:p>
            <a:pPr marL="514350" lvl="0" indent="-514350" fontAlgn="t">
              <a:lnSpc>
                <a:spcPct val="80000"/>
              </a:lnSpc>
              <a:buFont typeface="+mj-lt"/>
              <a:buAutoNum type="arabicPeriod"/>
            </a:pPr>
            <a:r>
              <a:rPr lang="en-IN" b="0" dirty="0"/>
              <a:t>Flag uncertain or material results for human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14100"/>
            <a:ext cx="5837897" cy="4142989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Dataset</a:t>
            </a:r>
          </a:p>
          <a:p>
            <a:pPr marL="342900" lvl="0" indent="-342900" fontAlgn="t"/>
            <a:r>
              <a:rPr lang="en-IN" b="0" dirty="0"/>
              <a:t>Three fictional, text-based contracts</a:t>
            </a:r>
          </a:p>
          <a:p>
            <a:pPr marL="342900" lvl="0" indent="-342900" fontAlgn="t"/>
            <a:r>
              <a:rPr lang="en-IN" b="0" dirty="0"/>
              <a:t>Contract lengths: 10, 12, and 14 pages</a:t>
            </a:r>
          </a:p>
          <a:p>
            <a:pPr marL="342900" lvl="0" indent="-342900" fontAlgn="t"/>
            <a:r>
              <a:rPr lang="en-IN" b="0" dirty="0"/>
              <a:t>Twelve security, privacy, third-party-risk, and resilience policies</a:t>
            </a:r>
          </a:p>
          <a:p>
            <a:pPr marL="342900" lvl="0" indent="-342900" fontAlgn="t"/>
            <a:r>
              <a:rPr lang="en-IN" b="0" dirty="0"/>
              <a:t>Thirty-six contract-policy scenarios</a:t>
            </a:r>
          </a:p>
          <a:p>
            <a:pPr marL="342900" lvl="0" indent="-342900" fontAlgn="t"/>
            <a:r>
              <a:rPr lang="en-IN" b="0" dirty="0"/>
              <a:t>Expected outcomes include compliant, non-compliant, ambiguous, missing, and review-required cases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F8AABAC0-EA8C-F4E5-855C-7AFFFF32DAB7}"/>
              </a:ext>
            </a:extLst>
          </p:cNvPr>
          <p:cNvSpPr txBox="1">
            <a:spLocks/>
          </p:cNvSpPr>
          <p:nvPr/>
        </p:nvSpPr>
        <p:spPr>
          <a:xfrm>
            <a:off x="6093893" y="1314100"/>
            <a:ext cx="5837897" cy="41429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None/>
            </a:pPr>
            <a:r>
              <a:rPr lang="en-IN" dirty="0"/>
              <a:t>Processing Checks</a:t>
            </a:r>
          </a:p>
          <a:p>
            <a:pPr marL="342900" lvl="0" indent="-342900" fontAlgn="t"/>
            <a:r>
              <a:rPr lang="en-IN" b="0" dirty="0"/>
              <a:t>Page count and character count</a:t>
            </a:r>
          </a:p>
          <a:p>
            <a:pPr marL="342900" lvl="0" indent="-342900" fontAlgn="t"/>
            <a:r>
              <a:rPr lang="en-IN" b="0" dirty="0"/>
              <a:t>PII detection counts</a:t>
            </a:r>
          </a:p>
          <a:p>
            <a:pPr marL="342900" lvl="0" indent="-342900" fontAlgn="t"/>
            <a:r>
              <a:rPr lang="en-IN" b="0" dirty="0"/>
              <a:t>Sanitized-page and chunk previews</a:t>
            </a:r>
          </a:p>
          <a:p>
            <a:pPr marL="342900" lvl="0" indent="-342900" fontAlgn="t"/>
            <a:r>
              <a:rPr lang="en-IN" b="0" dirty="0"/>
              <a:t>Chunk page numbers and identifiers</a:t>
            </a:r>
          </a:p>
          <a:p>
            <a:pPr marL="342900" lvl="0" indent="-342900" fontAlgn="t"/>
            <a:r>
              <a:rPr lang="en-IN" b="0" dirty="0"/>
              <a:t>Retrieved chunk rank and vector distance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RAG Approach</a:t>
            </a:r>
          </a:p>
          <a:p>
            <a:pPr marL="342900" lvl="0" indent="-342900" fontAlgn="t"/>
            <a:r>
              <a:rPr lang="en-IN" b="0" dirty="0"/>
              <a:t>The policy requirement and sanitized contract chunks use the same embedding model</a:t>
            </a:r>
          </a:p>
          <a:p>
            <a:pPr marL="342900" lvl="0" indent="-342900" fontAlgn="t"/>
            <a:r>
              <a:rPr lang="en-IN" b="0" dirty="0" err="1"/>
              <a:t>ChromaDB</a:t>
            </a:r>
            <a:r>
              <a:rPr lang="en-IN" b="0" dirty="0"/>
              <a:t> performs nearest-</a:t>
            </a:r>
            <a:r>
              <a:rPr lang="en-IN" b="0" dirty="0" err="1"/>
              <a:t>neighbor</a:t>
            </a:r>
            <a:r>
              <a:rPr lang="en-IN" b="0" dirty="0"/>
              <a:t> retrieval</a:t>
            </a:r>
          </a:p>
          <a:p>
            <a:pPr marL="342900" lvl="0" indent="-342900" fontAlgn="t"/>
            <a:r>
              <a:rPr lang="en-IN" b="0" dirty="0"/>
              <a:t>The top three chunks are treated as candidate evidence, not proof</a:t>
            </a:r>
          </a:p>
          <a:p>
            <a:pPr marL="342900" lvl="0" indent="-342900" fontAlgn="t"/>
            <a:r>
              <a:rPr lang="en-IN" b="0" dirty="0"/>
              <a:t>The local LLM compares the retrieved evidence with the policy</a:t>
            </a:r>
          </a:p>
          <a:p>
            <a:pPr marL="342900" lvl="0" indent="-342900" fontAlgn="t"/>
            <a:r>
              <a:rPr lang="en-IN" b="0" dirty="0" err="1"/>
              <a:t>Pydantic</a:t>
            </a:r>
            <a:r>
              <a:rPr lang="en-IN" b="0" dirty="0"/>
              <a:t> validates the status and evidence reference</a:t>
            </a:r>
          </a:p>
          <a:p>
            <a:pPr marL="342900" lvl="0" indent="-342900" fontAlgn="t"/>
            <a:r>
              <a:rPr lang="en-IN" b="0" dirty="0"/>
              <a:t>Evidence text, page number, and retrieval distance come from trusted retrieval metadata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F2707-E664-FBAB-94E2-5E4808485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43C367-42AB-1444-4683-A47F4A155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9390" y="1271219"/>
            <a:ext cx="9950944" cy="4142989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Python 3.12</a:t>
            </a:r>
          </a:p>
          <a:p>
            <a:pPr marL="342900" lvl="0" indent="-342900" fontAlgn="t"/>
            <a:r>
              <a:rPr lang="en-IN" b="0" dirty="0" err="1"/>
              <a:t>Streamlit</a:t>
            </a:r>
            <a:endParaRPr lang="en-IN" b="0" dirty="0"/>
          </a:p>
          <a:p>
            <a:pPr marL="342900" lvl="0" indent="-342900" fontAlgn="t"/>
            <a:r>
              <a:rPr lang="en-IN" b="0" dirty="0" err="1"/>
              <a:t>pypdf</a:t>
            </a:r>
            <a:endParaRPr lang="en-IN" b="0" dirty="0"/>
          </a:p>
          <a:p>
            <a:pPr marL="342900" lvl="0" indent="-342900" fontAlgn="t"/>
            <a:r>
              <a:rPr lang="en-IN" b="0" dirty="0"/>
              <a:t>Microsoft Presidio</a:t>
            </a:r>
          </a:p>
          <a:p>
            <a:pPr marL="342900" lvl="0" indent="-342900" fontAlgn="t"/>
            <a:r>
              <a:rPr lang="en-IN" b="0" dirty="0" err="1"/>
              <a:t>spaCy</a:t>
            </a:r>
            <a:r>
              <a:rPr lang="en-IN" b="0" dirty="0"/>
              <a:t> </a:t>
            </a:r>
            <a:r>
              <a:rPr lang="en-IN" b="0" dirty="0" err="1"/>
              <a:t>en_core_web_lg</a:t>
            </a:r>
            <a:endParaRPr lang="en-IN" b="0" dirty="0"/>
          </a:p>
          <a:p>
            <a:pPr marL="342900" lvl="0" indent="-342900" fontAlgn="t"/>
            <a:r>
              <a:rPr lang="en-IN" b="0" dirty="0" err="1"/>
              <a:t>Ollama</a:t>
            </a:r>
            <a:endParaRPr lang="en-IN" b="0" dirty="0"/>
          </a:p>
          <a:p>
            <a:pPr marL="342900" lvl="0" indent="-342900" fontAlgn="t"/>
            <a:r>
              <a:rPr lang="en-IN" b="0" dirty="0"/>
              <a:t>granite-embedding:30m</a:t>
            </a:r>
          </a:p>
          <a:p>
            <a:pPr marL="342900" lvl="0" indent="-342900" fontAlgn="t"/>
            <a:r>
              <a:rPr lang="en-IN" b="0" dirty="0" err="1"/>
              <a:t>ChromaDB</a:t>
            </a:r>
            <a:endParaRPr lang="en-IN" b="0" dirty="0"/>
          </a:p>
          <a:p>
            <a:pPr marL="342900" lvl="0" indent="-342900" fontAlgn="t"/>
            <a:r>
              <a:rPr lang="en-IN" b="0" dirty="0" err="1"/>
              <a:t>Pydantic</a:t>
            </a:r>
            <a:endParaRPr lang="en-IN" b="0" dirty="0"/>
          </a:p>
          <a:p>
            <a:pPr marL="342900" lvl="0" indent="-342900" fontAlgn="t"/>
            <a:r>
              <a:rPr lang="en-IN" b="0" dirty="0" err="1"/>
              <a:t>Pytest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BB138-4108-7025-2793-C2A4FCE0948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2ACEBA-7365-10FC-0B79-150229E40EC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B217E2-E4A2-37D1-A0E5-6DA80065807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078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Sessions 1–6 Completed</a:t>
            </a:r>
          </a:p>
          <a:p>
            <a:pPr marL="342900" lvl="0" indent="-342900" fontAlgn="t"/>
            <a:r>
              <a:rPr lang="en-IN" b="0" dirty="0"/>
              <a:t>Working single-policy end-to-end RAG pipeline</a:t>
            </a:r>
          </a:p>
          <a:p>
            <a:pPr marL="342900" lvl="0" indent="-342900" fontAlgn="t"/>
            <a:r>
              <a:rPr lang="en-IN" b="0" dirty="0"/>
              <a:t>PDF validation and extraction</a:t>
            </a:r>
          </a:p>
          <a:p>
            <a:pPr marL="342900" lvl="0" indent="-342900" fontAlgn="t"/>
            <a:r>
              <a:rPr lang="en-IN" b="0" dirty="0"/>
              <a:t>Typed PII redaction</a:t>
            </a:r>
          </a:p>
          <a:p>
            <a:pPr marL="342900" lvl="0" indent="-342900" fontAlgn="t"/>
            <a:r>
              <a:rPr lang="en-IN" b="0" dirty="0"/>
              <a:t>Sanitized paragraph chunking</a:t>
            </a:r>
          </a:p>
          <a:p>
            <a:pPr marL="342900" lvl="0" indent="-342900" fontAlgn="t"/>
            <a:r>
              <a:rPr lang="en-IN" b="0" dirty="0"/>
              <a:t>Local 384-dimensional embeddings</a:t>
            </a:r>
          </a:p>
          <a:p>
            <a:pPr marL="342900" lvl="0" indent="-342900" fontAlgn="t"/>
            <a:r>
              <a:rPr lang="en-IN" b="0" dirty="0"/>
              <a:t>Persistent </a:t>
            </a:r>
            <a:r>
              <a:rPr lang="en-IN" b="0" dirty="0" err="1"/>
              <a:t>ChromaDB</a:t>
            </a:r>
            <a:r>
              <a:rPr lang="en-IN" b="0" dirty="0"/>
              <a:t> indexing</a:t>
            </a:r>
          </a:p>
          <a:p>
            <a:pPr marL="342900" lvl="0" indent="-342900" fontAlgn="t"/>
            <a:r>
              <a:rPr lang="en-IN" b="0" dirty="0" err="1"/>
              <a:t>Streamlit</a:t>
            </a:r>
            <a:r>
              <a:rPr lang="en-IN" b="0" dirty="0"/>
              <a:t> evidence and human-review display</a:t>
            </a:r>
          </a:p>
          <a:p>
            <a:pPr marL="342900" lvl="0" indent="-342900" fontAlgn="t"/>
            <a:r>
              <a:rPr lang="en-IN" b="0" dirty="0"/>
              <a:t>Deterministic mock findings retained as a fallback</a:t>
            </a:r>
          </a:p>
          <a:p>
            <a:pPr marL="342900" lvl="0" indent="-342900" fontAlgn="t"/>
            <a:r>
              <a:rPr lang="en-IN" b="0" dirty="0"/>
              <a:t>Focused automated tests for the central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Current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Completed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Features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DF520-6FAB-5C4C-61C8-3EDC54C6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7418F3-9242-95B0-FC87-B5FA65DD3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fontAlgn="t">
              <a:buNone/>
            </a:pP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74423-854D-B21C-25C2-B27F2BE0EB4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and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1C81BA-DA14-AA96-B2C5-CE8EC7BBFD6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961B1D0-C6E7-DF37-2BE7-795479660904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20D6AE-C124-06C4-2823-4B6A1A17B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415357"/>
              </p:ext>
            </p:extLst>
          </p:nvPr>
        </p:nvGraphicFramePr>
        <p:xfrm>
          <a:off x="591618" y="1511287"/>
          <a:ext cx="11004550" cy="40754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2275">
                  <a:extLst>
                    <a:ext uri="{9D8B030D-6E8A-4147-A177-3AD203B41FA5}">
                      <a16:colId xmlns:a16="http://schemas.microsoft.com/office/drawing/2014/main" val="1089625608"/>
                    </a:ext>
                  </a:extLst>
                </a:gridCol>
                <a:gridCol w="5502275">
                  <a:extLst>
                    <a:ext uri="{9D8B030D-6E8A-4147-A177-3AD203B41FA5}">
                      <a16:colId xmlns:a16="http://schemas.microsoft.com/office/drawing/2014/main" val="563696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681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Milestone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608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Review-ready Streamlit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821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PDF extraction and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156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PII redaction and chunking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064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Embedding and ChromaDB indexing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669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Single-policy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581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Structured compliance 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307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Batch analysis of all policies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Session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859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Evaluation, dashboard, and exports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Session 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59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Production security and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dirty="0">
                          <a:effectLst/>
                        </a:rPr>
                        <a:t>Future enhancement</a:t>
                      </a:r>
                      <a:endParaRPr lang="en-IN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379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114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PDF Upload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   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Validation and Page-Level Extraction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   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Presidio + </a:t>
            </a:r>
            <a:r>
              <a:rPr lang="en-IN" sz="2400" dirty="0" err="1"/>
              <a:t>spaCy</a:t>
            </a:r>
            <a:r>
              <a:rPr lang="en-IN" sz="2400" dirty="0"/>
              <a:t> PII Redaction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   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Sanitized Paragraph Chunking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   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 err="1"/>
              <a:t>Ollama</a:t>
            </a:r>
            <a:r>
              <a:rPr lang="en-IN" sz="2400" dirty="0"/>
              <a:t> Embeddings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   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Persistent </a:t>
            </a:r>
            <a:r>
              <a:rPr lang="en-IN" sz="2400" dirty="0" err="1"/>
              <a:t>ChromaDB</a:t>
            </a:r>
            <a:r>
              <a:rPr lang="en-IN" sz="2400" dirty="0"/>
              <a:t> Index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   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Policy Query Embedding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   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Top-3 Evidence Retrieval -&gt; Local LLM Analysis -&gt; </a:t>
            </a:r>
            <a:r>
              <a:rPr lang="en-IN" sz="2400" dirty="0" err="1"/>
              <a:t>Pydantic</a:t>
            </a:r>
            <a:r>
              <a:rPr lang="en-IN" sz="2400" dirty="0"/>
              <a:t> Validation -&gt;  </a:t>
            </a:r>
            <a:r>
              <a:rPr lang="en-IN" sz="2400" dirty="0" err="1"/>
              <a:t>Streamlit</a:t>
            </a:r>
            <a:r>
              <a:rPr lang="en-IN" sz="2400" dirty="0"/>
              <a:t> Finding and Human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1"/>
            <a:ext cx="12254538" cy="6887838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7257" y="32106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3162886" y="109023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555751" y="129589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Vellore 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1612785"/>
            <a:ext cx="11428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Autonomous Cloud FinOps Remediation Agent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Daniel Robin – T9925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425857"/>
            <a:ext cx="10624338" cy="4465275"/>
          </a:xfrm>
        </p:spPr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en-IN" b="0" dirty="0"/>
              <a:t>The </a:t>
            </a:r>
            <a:r>
              <a:rPr lang="en-IN" dirty="0">
                <a:solidFill>
                  <a:srgbClr val="1F4E79"/>
                </a:solidFill>
              </a:rPr>
              <a:t>Autonomous Cloud FinOps Remediation Agent </a:t>
            </a:r>
            <a:r>
              <a:rPr lang="en-IN" b="0" dirty="0"/>
              <a:t>is a policy-driven application that identifies cloud resource waste and recommends safe cost optimization actions.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b="0" dirty="0"/>
              <a:t>The system </a:t>
            </a:r>
            <a:r>
              <a:rPr lang="en-IN" b="0" dirty="0" err="1"/>
              <a:t>analyzes</a:t>
            </a:r>
            <a:r>
              <a:rPr lang="en-IN" b="0" dirty="0"/>
              <a:t> synthetic AWS and Azure telemetry data, applies FinOps policies, estimates potential savings, and generates reviewable remediation recommendations.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>
                <a:solidFill>
                  <a:srgbClr val="1F4E79"/>
                </a:solidFill>
              </a:rPr>
              <a:t>Key Technologies:</a:t>
            </a:r>
            <a:r>
              <a:rPr lang="en-IN" b="0" dirty="0">
                <a:solidFill>
                  <a:srgbClr val="1F4E79"/>
                </a:solidFill>
              </a:rPr>
              <a:t> </a:t>
            </a:r>
            <a:r>
              <a:rPr lang="en-IN" b="0" dirty="0"/>
              <a:t>Python, </a:t>
            </a:r>
            <a:r>
              <a:rPr lang="en-IN" b="0" dirty="0" err="1"/>
              <a:t>Pydantic</a:t>
            </a:r>
            <a:r>
              <a:rPr lang="en-IN" b="0" dirty="0"/>
              <a:t>, Pandas, YAML Policies, Jinja2, Terraform, </a:t>
            </a:r>
            <a:r>
              <a:rPr lang="en-IN" b="0" dirty="0" err="1"/>
              <a:t>Streamlit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87C4-5BCF-A01F-92B2-8B3F377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0CEB3C-9EB5-981E-701C-F40E6CE47D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9850" y="1202553"/>
            <a:ext cx="10624338" cy="5139832"/>
          </a:xfrm>
        </p:spPr>
        <p:txBody>
          <a:bodyPr/>
          <a:lstStyle/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Problem Statement</a:t>
            </a:r>
          </a:p>
          <a:p>
            <a:pPr fontAlgn="t">
              <a:buNone/>
            </a:pPr>
            <a:r>
              <a:rPr lang="en-IN" b="0" dirty="0"/>
              <a:t>Organizations often spend unnecessary cloud costs due to:</a:t>
            </a:r>
          </a:p>
          <a:p>
            <a:pPr marL="342900" lvl="0" indent="-342900" fontAlgn="t"/>
            <a:r>
              <a:rPr lang="en-IN" b="0" dirty="0"/>
              <a:t>Idle compute resources</a:t>
            </a:r>
          </a:p>
          <a:p>
            <a:pPr marL="342900" lvl="0" indent="-342900" fontAlgn="t"/>
            <a:r>
              <a:rPr lang="en-IN" b="0" dirty="0"/>
              <a:t>Unattached storage volumes</a:t>
            </a:r>
          </a:p>
          <a:p>
            <a:pPr marL="342900" lvl="0" indent="-342900" fontAlgn="t"/>
            <a:r>
              <a:rPr lang="en-IN" b="0" dirty="0"/>
              <a:t>Old snapshots</a:t>
            </a:r>
          </a:p>
          <a:p>
            <a:pPr marL="342900" lvl="0" indent="-342900" fontAlgn="t"/>
            <a:r>
              <a:rPr lang="en-IN" b="0" dirty="0"/>
              <a:t>Missing governance tags</a:t>
            </a:r>
          </a:p>
          <a:p>
            <a:pPr marL="342900" lvl="0" indent="-342900" fontAlgn="t"/>
            <a:r>
              <a:rPr lang="en-IN" b="0" dirty="0"/>
              <a:t>Oversized cloud resources</a:t>
            </a:r>
          </a:p>
          <a:p>
            <a:pPr fontAlgn="t">
              <a:buNone/>
            </a:pPr>
            <a:r>
              <a:rPr lang="en-IN" b="0" dirty="0"/>
              <a:t>Manual identification of such waste is time-consuming and inconsistent.</a:t>
            </a:r>
          </a:p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Motivation</a:t>
            </a:r>
          </a:p>
          <a:p>
            <a:pPr marL="342900" lvl="0" indent="-342900" fontAlgn="t"/>
            <a:r>
              <a:rPr lang="en-IN" b="0" dirty="0"/>
              <a:t>Reduce cloud cost wastage</a:t>
            </a:r>
          </a:p>
          <a:p>
            <a:pPr marL="342900" lvl="0" indent="-342900" fontAlgn="t"/>
            <a:r>
              <a:rPr lang="en-IN" b="0" dirty="0"/>
              <a:t>Improve governance visibility</a:t>
            </a:r>
          </a:p>
          <a:p>
            <a:pPr marL="342900" lvl="0" indent="-342900" fontAlgn="t"/>
            <a:r>
              <a:rPr lang="en-IN" b="0" dirty="0"/>
              <a:t>Automate policy-based analysis</a:t>
            </a:r>
          </a:p>
          <a:p>
            <a:pPr marL="342900" lvl="0" indent="-342900" fontAlgn="t"/>
            <a:r>
              <a:rPr lang="en-IN" b="0" dirty="0"/>
              <a:t>Demonstrate practical FinOps concepts using synthetic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7F1F2-1FBD-C533-09A4-3FD1A90CD4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 &amp; Motivation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5755D7-06E9-853F-2391-870843D839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CDFAD0-4538-FBC5-F736-1CD12135EEA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155602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C4E0-DDEC-91A5-6FCB-F9C2135A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8BF6E0-34C5-1CDF-C581-F6F957843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Project Objectives</a:t>
            </a:r>
          </a:p>
          <a:p>
            <a:pPr marL="342900" lvl="0" indent="-342900" fontAlgn="t"/>
            <a:r>
              <a:rPr lang="en-IN" b="0" dirty="0"/>
              <a:t>Load and validate cloud telemetry data</a:t>
            </a:r>
          </a:p>
          <a:p>
            <a:pPr marL="342900" lvl="0" indent="-342900" fontAlgn="t"/>
            <a:r>
              <a:rPr lang="en-IN" b="0" dirty="0"/>
              <a:t>Normalize resource information</a:t>
            </a:r>
          </a:p>
          <a:p>
            <a:pPr marL="342900" lvl="0" indent="-342900" fontAlgn="t"/>
            <a:r>
              <a:rPr lang="en-IN" b="0" dirty="0"/>
              <a:t>Apply FinOps policies to detect waste</a:t>
            </a:r>
          </a:p>
          <a:p>
            <a:pPr marL="342900" lvl="0" indent="-342900" fontAlgn="t"/>
            <a:r>
              <a:rPr lang="en-IN" b="0" dirty="0"/>
              <a:t>Generate optimization recommendations</a:t>
            </a:r>
          </a:p>
          <a:p>
            <a:pPr marL="342900" lvl="0" indent="-342900" fontAlgn="t"/>
            <a:r>
              <a:rPr lang="en-IN" b="0" dirty="0"/>
              <a:t>Estimate potential cost savings</a:t>
            </a:r>
          </a:p>
          <a:p>
            <a:pPr marL="342900" lvl="0" indent="-342900" fontAlgn="t"/>
            <a:r>
              <a:rPr lang="en-IN" b="0" dirty="0"/>
              <a:t>Produce reviewable Terraform remediation artifacts</a:t>
            </a:r>
          </a:p>
          <a:p>
            <a:pPr algn="just" fontAlgn="t">
              <a:buNone/>
            </a:pPr>
            <a:r>
              <a:rPr lang="en-IN" dirty="0">
                <a:solidFill>
                  <a:srgbClr val="1F4E79"/>
                </a:solidFill>
              </a:rPr>
              <a:t>Expected Outcome: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15DF9-FEC1-6033-766C-3D1AB28C189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43BBE8-1C3B-2365-7791-E88E5D603B5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97E32D-C08D-D20C-22B0-73F13BF149E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7661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E3D1B-BBD0-E058-A56D-9513DC74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954F55-6D7E-D1C4-498A-ABA59B8D79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51893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Telemetry and policy validation</a:t>
            </a:r>
          </a:p>
          <a:p>
            <a:pPr marL="342900" lvl="0" indent="-342900" fontAlgn="t"/>
            <a:r>
              <a:rPr lang="en-IN" b="0" dirty="0"/>
              <a:t>Safety-gate engine</a:t>
            </a:r>
          </a:p>
          <a:p>
            <a:pPr marL="342900" lvl="0" indent="-342900" fontAlgn="t"/>
            <a:r>
              <a:rPr lang="en-IN" b="0" dirty="0"/>
              <a:t>Deterministic policy engine</a:t>
            </a:r>
          </a:p>
          <a:p>
            <a:pPr marL="342900" lvl="0" indent="-342900" fontAlgn="t"/>
            <a:r>
              <a:rPr lang="en-IN" b="0" dirty="0"/>
              <a:t>Savings calculator</a:t>
            </a:r>
          </a:p>
          <a:p>
            <a:pPr marL="342900" lvl="0" indent="-342900" fontAlgn="t"/>
            <a:r>
              <a:rPr lang="en-IN" b="0" dirty="0"/>
              <a:t>Portfolio reporting</a:t>
            </a:r>
          </a:p>
          <a:p>
            <a:pPr marL="342900" lvl="0" indent="-342900" fontAlgn="t"/>
            <a:r>
              <a:rPr lang="en-IN" b="0" dirty="0"/>
              <a:t>Terraform proposal compiler</a:t>
            </a:r>
          </a:p>
          <a:p>
            <a:pPr marL="342900" lvl="0" indent="-342900" fontAlgn="t"/>
            <a:r>
              <a:rPr lang="en-IN" b="0" dirty="0" err="1"/>
              <a:t>Streamlit</a:t>
            </a:r>
            <a:r>
              <a:rPr lang="en-IN" b="0" dirty="0"/>
              <a:t>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7CEDF-AB67-3C83-A2A6-FEAC09D370C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and Components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921C5E-5F65-5619-FA46-7CBD427513A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9D7D51-FC48-1CB1-DBAD-161EB6F390DA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78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AAB35-9CDF-F3E9-AF60-883F085F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A1E237-04A5-30BA-0120-32491D20A7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9507" y="1271219"/>
            <a:ext cx="10867869" cy="5084230"/>
          </a:xfrm>
        </p:spPr>
        <p:txBody>
          <a:bodyPr/>
          <a:lstStyle/>
          <a:p>
            <a:pPr marL="342900" lvl="0" indent="-342900" fontAlgn="t">
              <a:buFont typeface="+mj-lt"/>
              <a:buAutoNum type="arabicPeriod"/>
            </a:pPr>
            <a:r>
              <a:rPr lang="en-IN" b="0" dirty="0"/>
              <a:t>Load synthetic telemetry from JSON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b="0" dirty="0"/>
              <a:t>Validate telemetry using </a:t>
            </a:r>
            <a:r>
              <a:rPr lang="en-IN" b="0" dirty="0" err="1"/>
              <a:t>Pydantic</a:t>
            </a:r>
            <a:endParaRPr lang="en-IN" b="0" dirty="0"/>
          </a:p>
          <a:p>
            <a:pPr marL="342900" lvl="0" indent="-342900" fontAlgn="t">
              <a:buFont typeface="+mj-lt"/>
              <a:buAutoNum type="arabicPeriod"/>
            </a:pPr>
            <a:r>
              <a:rPr lang="en-IN" b="0" dirty="0"/>
              <a:t>Load and validate versioned YAML policies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b="0" dirty="0"/>
              <a:t>Apply safety gates before optimization rules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b="0" dirty="0"/>
              <a:t>Evaluate resources using deterministic Python logic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b="0" dirty="0"/>
              <a:t>Calculate illustrative savings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b="0" dirty="0"/>
              <a:t>Produce structured findings and reports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b="0" dirty="0"/>
              <a:t>Generate eligible review-only Terraform proposals </a:t>
            </a:r>
          </a:p>
          <a:p>
            <a:pPr marL="0" lvl="0" indent="0" fontAlgn="t">
              <a:buNone/>
            </a:pPr>
            <a:r>
              <a:rPr lang="en-IN" dirty="0" err="1"/>
              <a:t>Modeling</a:t>
            </a:r>
            <a:r>
              <a:rPr lang="en-IN" dirty="0"/>
              <a:t> choice:</a:t>
            </a:r>
            <a:r>
              <a:rPr lang="en-IN" b="0" dirty="0"/>
              <a:t> Rule-based deterministic analysis is used instead of machine learning. An LLM is not part of the decision path.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57C70-1742-1B70-26E1-93B3D11482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7D9A36-4A7F-5871-B5D8-3E719393FEE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DECBA2E-2574-9653-CA12-2F2871D12403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6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FCCE-C8C5-4A72-8921-BBE775D3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14F4-4F50-9FF5-87F6-8CFF95D0D1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14100"/>
            <a:ext cx="5837897" cy="4142989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Dataset</a:t>
            </a:r>
          </a:p>
          <a:p>
            <a:pPr marL="342900" lvl="0" indent="-342900" fontAlgn="t"/>
            <a:r>
              <a:rPr lang="en-IN" b="0" dirty="0"/>
              <a:t>24 synthetic resources</a:t>
            </a:r>
          </a:p>
          <a:p>
            <a:pPr marL="342900" lvl="0" indent="-342900" fontAlgn="t"/>
            <a:r>
              <a:rPr lang="en-IN" b="0" dirty="0"/>
              <a:t>13 AWS-style and 11 Azure-style resources</a:t>
            </a:r>
          </a:p>
          <a:p>
            <a:pPr marL="342900" lvl="0" indent="-342900" fontAlgn="t"/>
            <a:r>
              <a:rPr lang="en-IN" b="0" dirty="0"/>
              <a:t>11 compute instances, 6 storage volumes, 5 snapshots, and 2 public IPs</a:t>
            </a:r>
          </a:p>
          <a:p>
            <a:pPr marL="342900" lvl="0" indent="-342900" fontAlgn="t"/>
            <a:r>
              <a:rPr lang="en-IN" b="0" dirty="0"/>
              <a:t>Includes waste, protected, ambiguous, boundary, and healthy scenarios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F521D-C79F-3761-9FB4-33138E83FA9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597023-6812-A918-E76C-EBA8B454CA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1A0EE8-E1BB-CE16-D549-F864E978E15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3E37935F-1295-2BFB-BFE9-D5CC0663F1EF}"/>
              </a:ext>
            </a:extLst>
          </p:cNvPr>
          <p:cNvSpPr txBox="1">
            <a:spLocks/>
          </p:cNvSpPr>
          <p:nvPr/>
        </p:nvSpPr>
        <p:spPr>
          <a:xfrm>
            <a:off x="6093893" y="1314100"/>
            <a:ext cx="5837897" cy="41429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>
              <a:buNone/>
            </a:pPr>
            <a:r>
              <a:rPr lang="en-IN"/>
              <a:t>Current Results</a:t>
            </a:r>
          </a:p>
          <a:p>
            <a:pPr marL="342900" lvl="0" indent="-342900" fontAlgn="t"/>
            <a:r>
              <a:rPr lang="en-IN" b="0"/>
              <a:t>5 waste detected</a:t>
            </a:r>
          </a:p>
          <a:p>
            <a:pPr marL="342900" lvl="0" indent="-342900" fontAlgn="t"/>
            <a:r>
              <a:rPr lang="en-IN" b="0"/>
              <a:t>6 protected</a:t>
            </a:r>
          </a:p>
          <a:p>
            <a:pPr marL="342900" lvl="0" indent="-342900" fontAlgn="t"/>
            <a:r>
              <a:rPr lang="en-IN" b="0"/>
              <a:t>6 review required</a:t>
            </a:r>
          </a:p>
          <a:p>
            <a:pPr marL="342900" lvl="0" indent="-342900" fontAlgn="t"/>
            <a:r>
              <a:rPr lang="en-IN" b="0"/>
              <a:t>2 insufficient data</a:t>
            </a:r>
          </a:p>
          <a:p>
            <a:pPr marL="342900" lvl="0" indent="-342900" fontAlgn="t"/>
            <a:r>
              <a:rPr lang="en-IN" b="0"/>
              <a:t>5 no waste detected</a:t>
            </a:r>
          </a:p>
          <a:p>
            <a:pPr marL="342900" lvl="0" indent="-342900" fontAlgn="t"/>
            <a:r>
              <a:rPr lang="en-IN" b="0"/>
              <a:t>Illustrative confirmed savings: USD 153.50 monthly and USD 1,842 annually</a:t>
            </a:r>
          </a:p>
        </p:txBody>
      </p:sp>
    </p:spTree>
    <p:extLst>
      <p:ext uri="{BB962C8B-B14F-4D97-AF65-F5344CB8AC3E}">
        <p14:creationId xmlns:p14="http://schemas.microsoft.com/office/powerpoint/2010/main" val="248795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E970-0C8C-EE9C-967E-9C4215E7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D69507-452C-6064-012D-989B810968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8538" y="1376150"/>
            <a:ext cx="5305355" cy="461991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Safety gates</a:t>
            </a:r>
          </a:p>
          <a:p>
            <a:pPr marL="0" indent="0">
              <a:buNone/>
            </a:pPr>
            <a:r>
              <a:rPr lang="en-IN" dirty="0"/>
              <a:t>    ↓</a:t>
            </a:r>
          </a:p>
          <a:p>
            <a:pPr marL="0" indent="0">
              <a:buNone/>
            </a:pPr>
            <a:r>
              <a:rPr lang="en-IN" dirty="0"/>
              <a:t>Policy matching</a:t>
            </a:r>
          </a:p>
          <a:p>
            <a:pPr marL="0" indent="0">
              <a:buNone/>
            </a:pPr>
            <a:r>
              <a:rPr lang="en-IN" dirty="0"/>
              <a:t>    ↓</a:t>
            </a:r>
          </a:p>
          <a:p>
            <a:pPr marL="0" indent="0">
              <a:buNone/>
            </a:pPr>
            <a:r>
              <a:rPr lang="en-IN" dirty="0"/>
              <a:t>Savings calculation</a:t>
            </a:r>
          </a:p>
          <a:p>
            <a:pPr marL="0" indent="0">
              <a:buNone/>
            </a:pPr>
            <a:r>
              <a:rPr lang="en-IN" dirty="0"/>
              <a:t>    ↓</a:t>
            </a:r>
          </a:p>
          <a:p>
            <a:pPr marL="0" indent="0">
              <a:buNone/>
            </a:pPr>
            <a:r>
              <a:rPr lang="en-IN" dirty="0"/>
              <a:t>Action recommendation</a:t>
            </a:r>
          </a:p>
          <a:p>
            <a:pPr marL="0" indent="0">
              <a:buNone/>
            </a:pPr>
            <a:r>
              <a:rPr lang="en-IN" dirty="0"/>
              <a:t>    ↓</a:t>
            </a:r>
          </a:p>
          <a:p>
            <a:pPr marL="0" indent="0">
              <a:buNone/>
            </a:pPr>
            <a:r>
              <a:rPr lang="en-IN" dirty="0"/>
              <a:t>Reporting and artifact generation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13DDE-1D28-6876-A2D8-A929385BE8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Algorithm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610F33-9A90-6849-ABEA-74F6DFEBD8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1E02D0B-20E1-65D0-F152-86B2C0F3CE62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EC308CF-D6C5-9CFB-78CF-19C049AB8AAD}"/>
              </a:ext>
            </a:extLst>
          </p:cNvPr>
          <p:cNvSpPr txBox="1">
            <a:spLocks/>
          </p:cNvSpPr>
          <p:nvPr/>
        </p:nvSpPr>
        <p:spPr>
          <a:xfrm>
            <a:off x="6091368" y="1376150"/>
            <a:ext cx="5305355" cy="4619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t"/>
            <a:r>
              <a:rPr lang="en-IN" b="0" dirty="0"/>
              <a:t>Safety rules always run before optimization</a:t>
            </a:r>
          </a:p>
          <a:p>
            <a:pPr marL="342900" lvl="0" indent="-342900" fontAlgn="t"/>
            <a:r>
              <a:rPr lang="en-IN" b="0" dirty="0"/>
              <a:t>Protected resources receive NO_ACTION</a:t>
            </a:r>
          </a:p>
          <a:p>
            <a:pPr marL="342900" lvl="0" indent="-342900" fontAlgn="t"/>
            <a:r>
              <a:rPr lang="en-IN" b="0" dirty="0"/>
              <a:t>Missing ownership or unclear environments produce REVIEW_REQUIRED</a:t>
            </a:r>
          </a:p>
          <a:p>
            <a:pPr marL="342900" lvl="0" indent="-342900" fontAlgn="t"/>
            <a:r>
              <a:rPr lang="en-IN" b="0" dirty="0"/>
              <a:t>Only confirmed WASTE_DETECTED findings are eligible for artifacts</a:t>
            </a:r>
          </a:p>
        </p:txBody>
      </p:sp>
    </p:spTree>
    <p:extLst>
      <p:ext uri="{BB962C8B-B14F-4D97-AF65-F5344CB8AC3E}">
        <p14:creationId xmlns:p14="http://schemas.microsoft.com/office/powerpoint/2010/main" val="80830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6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31AB-FAE9-D22A-A58A-A1EA4655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DA18-8AAE-2669-1DB0-6B53F2396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9390" y="1271219"/>
            <a:ext cx="9950944" cy="4142989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Python 3.12</a:t>
            </a:r>
          </a:p>
          <a:p>
            <a:pPr marL="342900" lvl="0" indent="-342900" fontAlgn="t"/>
            <a:r>
              <a:rPr lang="en-IN" b="0" dirty="0" err="1"/>
              <a:t>Pydantic</a:t>
            </a:r>
            <a:endParaRPr lang="en-IN" b="0" dirty="0"/>
          </a:p>
          <a:p>
            <a:pPr marL="342900" lvl="0" indent="-342900" fontAlgn="t"/>
            <a:r>
              <a:rPr lang="en-IN" b="0" dirty="0"/>
              <a:t>YAML and JSON</a:t>
            </a:r>
          </a:p>
          <a:p>
            <a:pPr marL="342900" lvl="0" indent="-342900" fontAlgn="t"/>
            <a:r>
              <a:rPr lang="en-IN" b="0" dirty="0" err="1"/>
              <a:t>Streamlit</a:t>
            </a:r>
            <a:endParaRPr lang="en-IN" b="0" dirty="0"/>
          </a:p>
          <a:p>
            <a:pPr marL="342900" lvl="0" indent="-342900" fontAlgn="t"/>
            <a:r>
              <a:rPr lang="en-IN" b="0" dirty="0"/>
              <a:t>Jinja2</a:t>
            </a:r>
          </a:p>
          <a:p>
            <a:pPr marL="342900" lvl="0" indent="-342900" fontAlgn="t"/>
            <a:r>
              <a:rPr lang="en-IN" b="0" dirty="0"/>
              <a:t>Terraform</a:t>
            </a:r>
          </a:p>
          <a:p>
            <a:pPr marL="342900" lvl="0" indent="-342900" fontAlgn="t"/>
            <a:r>
              <a:rPr lang="en-IN" b="0" dirty="0" err="1"/>
              <a:t>Pytest</a:t>
            </a:r>
            <a:r>
              <a:rPr lang="en-IN" b="0" dirty="0"/>
              <a:t> and Ruff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E3338-760B-22E3-D48A-03626E1AF0B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210C1E-0C14-7B14-2DF1-233C2855EB7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2BB8A5C-D981-C32A-FF93-D1D07776E60E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332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1A46-849C-C655-7870-861C6E417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FBB7EA-7C14-CA38-7FF7-D5B99D72399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 and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237225-A33F-70E1-74E9-2CEE0B64503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BF16E22-5D66-B024-AE27-4D8427317E1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7C77DC-B68D-8AC3-A40D-054DEA5A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902419"/>
              </p:ext>
            </p:extLst>
          </p:nvPr>
        </p:nvGraphicFramePr>
        <p:xfrm>
          <a:off x="1605992" y="1378866"/>
          <a:ext cx="8975802" cy="41002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4422">
                  <a:extLst>
                    <a:ext uri="{9D8B030D-6E8A-4147-A177-3AD203B41FA5}">
                      <a16:colId xmlns:a16="http://schemas.microsoft.com/office/drawing/2014/main" val="1616903657"/>
                    </a:ext>
                  </a:extLst>
                </a:gridCol>
                <a:gridCol w="5482855">
                  <a:extLst>
                    <a:ext uri="{9D8B030D-6E8A-4147-A177-3AD203B41FA5}">
                      <a16:colId xmlns:a16="http://schemas.microsoft.com/office/drawing/2014/main" val="3298702797"/>
                    </a:ext>
                  </a:extLst>
                </a:gridCol>
                <a:gridCol w="2248525">
                  <a:extLst>
                    <a:ext uri="{9D8B030D-6E8A-4147-A177-3AD203B41FA5}">
                      <a16:colId xmlns:a16="http://schemas.microsoft.com/office/drawing/2014/main" val="4000249229"/>
                    </a:ext>
                  </a:extLst>
                </a:gridCol>
              </a:tblGrid>
              <a:tr h="29913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10952"/>
                  </a:ext>
                </a:extLst>
              </a:tr>
              <a:tr h="4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Milestone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03565"/>
                  </a:ext>
                </a:extLst>
              </a:tr>
              <a:tr h="4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Project structure and Streamlit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860338"/>
                  </a:ext>
                </a:extLst>
              </a:tr>
              <a:tr h="4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Pydantic models and input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7747170"/>
                  </a:ext>
                </a:extLst>
              </a:tr>
              <a:tr h="4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Safety-first policy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558366"/>
                  </a:ext>
                </a:extLst>
              </a:tr>
              <a:tr h="4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Reporting, dashboard and exports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49672"/>
                  </a:ext>
                </a:extLst>
              </a:tr>
              <a:tr h="4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Terraform proposal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Completed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0577103"/>
                  </a:ext>
                </a:extLst>
              </a:tr>
              <a:tr h="4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Terraform formatting and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Planned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165266"/>
                  </a:ext>
                </a:extLst>
              </a:tr>
              <a:tr h="4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Final tests, README and cleanup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Planned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1643480"/>
                  </a:ext>
                </a:extLst>
              </a:tr>
              <a:tr h="4666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Verification and presentation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IN" dirty="0">
                          <a:effectLst/>
                        </a:rPr>
                        <a:t>Planned</a:t>
                      </a:r>
                      <a:endParaRPr lang="en-IN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322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695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FDC3-346D-7842-D8B8-BC4E65B0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EAF663-1420-8CF9-6D36-FFC8B0BEC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234637"/>
            <a:ext cx="10624338" cy="5354431"/>
          </a:xfrm>
        </p:spPr>
        <p:txBody>
          <a:bodyPr/>
          <a:lstStyle/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Synthetic Telemetry JSON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       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 err="1"/>
              <a:t>Pydantic</a:t>
            </a:r>
            <a:r>
              <a:rPr lang="en-IN" sz="2400" dirty="0"/>
              <a:t> Validation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       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YAML Policy Validation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       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Safety Gates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       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Deterministic Policy Evaluation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       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Illustrative Savings Calculation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       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Structured Findings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/>
              <a:t>        ↓</a:t>
            </a:r>
          </a:p>
          <a:p>
            <a:pPr marL="0" indent="0" algn="ctr">
              <a:lnSpc>
                <a:spcPct val="60000"/>
              </a:lnSpc>
              <a:buNone/>
            </a:pPr>
            <a:r>
              <a:rPr lang="en-IN" sz="2400" dirty="0" err="1"/>
              <a:t>Streamlit</a:t>
            </a:r>
            <a:r>
              <a:rPr lang="en-IN" sz="2400" dirty="0"/>
              <a:t> Dashboard -&gt; JSON / CSV Reports -&gt; Review-Only Terraform Proposals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17236-8AC3-9B35-709A-DF79C76AD07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D4B365-8817-2D63-FCE8-EAFFDA0E37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D497E91-6307-C428-99F2-AFD861DF1280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9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1342</Words>
  <Application>Microsoft Office PowerPoint</Application>
  <PresentationFormat>Widescreen</PresentationFormat>
  <Paragraphs>300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(Body)</vt:lpstr>
      <vt:lpstr>Frutiger 45 bold</vt:lpstr>
      <vt:lpstr>Frutiger LT Pro 45 Light</vt:lpstr>
      <vt:lpstr>Segoe UI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Daniel Robin</cp:lastModifiedBy>
  <cp:revision>14</cp:revision>
  <dcterms:created xsi:type="dcterms:W3CDTF">2024-05-13T10:33:11Z</dcterms:created>
  <dcterms:modified xsi:type="dcterms:W3CDTF">2026-10-05T15:47:49Z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  <property fmtid="{D5CDD505-2E9C-101B-9397-08002B2CF9AE}" pid="12" name="MSIP_Label_2b5eb709-8821-4075-8cfb-371bd0e7c7cf_Enabled">
    <vt:lpwstr>true</vt:lpwstr>
  </property>
  <property fmtid="{D5CDD505-2E9C-101B-9397-08002B2CF9AE}" pid="13" name="MSIP_Label_2b5eb709-8821-4075-8cfb-371bd0e7c7cf_SetDate">
    <vt:lpwstr>2026-10-05T15:47:47Z</vt:lpwstr>
  </property>
  <property fmtid="{D5CDD505-2E9C-101B-9397-08002B2CF9AE}" pid="14" name="MSIP_Label_2b5eb709-8821-4075-8cfb-371bd0e7c7cf_Method">
    <vt:lpwstr>Privileged</vt:lpwstr>
  </property>
  <property fmtid="{D5CDD505-2E9C-101B-9397-08002B2CF9AE}" pid="15" name="MSIP_Label_2b5eb709-8821-4075-8cfb-371bd0e7c7cf_Name">
    <vt:lpwstr>Personal</vt:lpwstr>
  </property>
  <property fmtid="{D5CDD505-2E9C-101B-9397-08002B2CF9AE}" pid="16" name="MSIP_Label_2b5eb709-8821-4075-8cfb-371bd0e7c7cf_SiteId">
    <vt:lpwstr>ff355289-721e-4dd7-a663-afec62ab9d54</vt:lpwstr>
  </property>
  <property fmtid="{D5CDD505-2E9C-101B-9397-08002B2CF9AE}" pid="17" name="MSIP_Label_2b5eb709-8821-4075-8cfb-371bd0e7c7cf_ActionId">
    <vt:lpwstr>7a92f608-ce4d-43c1-aa95-f48240458eb7</vt:lpwstr>
  </property>
  <property fmtid="{D5CDD505-2E9C-101B-9397-08002B2CF9AE}" pid="18" name="MSIP_Label_2b5eb709-8821-4075-8cfb-371bd0e7c7cf_ContentBits">
    <vt:lpwstr>0</vt:lpwstr>
  </property>
  <property fmtid="{D5CDD505-2E9C-101B-9397-08002B2CF9AE}" pid="19" name="MSIP_Label_2b5eb709-8821-4075-8cfb-371bd0e7c7cf_Tag">
    <vt:lpwstr>10, 0, 1, 1</vt:lpwstr>
  </property>
</Properties>
</file>
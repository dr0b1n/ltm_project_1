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515" r:id="rId2"/>
    <p:sldId id="2147470516" r:id="rId3"/>
    <p:sldId id="2147470517" r:id="rId4"/>
    <p:sldId id="2147470518" r:id="rId5"/>
    <p:sldId id="2147470538" r:id="rId6"/>
    <p:sldId id="2147470494" r:id="rId7"/>
    <p:sldId id="2147470508" r:id="rId8"/>
    <p:sldId id="2147470548" r:id="rId9"/>
    <p:sldId id="2147470505" r:id="rId10"/>
    <p:sldId id="2147470502" r:id="rId11"/>
    <p:sldId id="2147470519" r:id="rId12"/>
    <p:sldId id="2147470521" r:id="rId13"/>
    <p:sldId id="2147470524" r:id="rId14"/>
    <p:sldId id="2147470527" r:id="rId15"/>
    <p:sldId id="2147470528" r:id="rId16"/>
    <p:sldId id="2147470529" r:id="rId17"/>
    <p:sldId id="2147470530" r:id="rId18"/>
    <p:sldId id="2147470541" r:id="rId19"/>
    <p:sldId id="2147470542" r:id="rId20"/>
    <p:sldId id="2147470544" r:id="rId21"/>
    <p:sldId id="2147470545" r:id="rId22"/>
    <p:sldId id="2147470549" r:id="rId23"/>
    <p:sldId id="2147470546" r:id="rId24"/>
    <p:sldId id="2147470513" r:id="rId25"/>
    <p:sldId id="2147470531" r:id="rId26"/>
    <p:sldId id="2147470533" r:id="rId27"/>
    <p:sldId id="2147470534" r:id="rId28"/>
    <p:sldId id="2147470536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4D98"/>
    <a:srgbClr val="FFFFFF"/>
    <a:srgbClr val="25B9ED"/>
    <a:srgbClr val="47BDAE"/>
    <a:srgbClr val="30BBDA"/>
    <a:srgbClr val="47BDAF"/>
    <a:srgbClr val="696969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353" autoAdjust="0"/>
    <p:restoredTop sz="94660"/>
  </p:normalViewPr>
  <p:slideViewPr>
    <p:cSldViewPr snapToGrid="0">
      <p:cViewPr varScale="1">
        <p:scale>
          <a:sx n="64" d="100"/>
          <a:sy n="64" d="100"/>
        </p:scale>
        <p:origin x="4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1"/>
            <a:ext cx="12254538" cy="6887838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7257" y="32106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162886" y="109023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555751" y="129589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Vellore 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612785"/>
            <a:ext cx="1142818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Review – 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RAG-Powered Vendor Compliance Auditor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Daniel Robin – T9925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901B787-97C0-6916-3BC0-73F071C260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90" y="5296588"/>
            <a:ext cx="1958640" cy="19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28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425857"/>
            <a:ext cx="10624338" cy="4465275"/>
          </a:xfrm>
        </p:spPr>
        <p:txBody>
          <a:bodyPr/>
          <a:lstStyle/>
          <a:p>
            <a:pPr marL="0" indent="0" algn="just" fontAlgn="t">
              <a:lnSpc>
                <a:spcPct val="100000"/>
              </a:lnSpc>
              <a:buNone/>
            </a:pPr>
            <a:endParaRPr lang="en-IN" b="0" dirty="0"/>
          </a:p>
          <a:p>
            <a:pPr algn="just" fontAlgn="t">
              <a:lnSpc>
                <a:spcPct val="100000"/>
              </a:lnSpc>
            </a:pPr>
            <a:r>
              <a:rPr lang="en-IN" b="0" dirty="0"/>
              <a:t>The </a:t>
            </a:r>
            <a:r>
              <a:rPr lang="en-IN" dirty="0"/>
              <a:t>RAG-Powered Vendor Compliance Auditor</a:t>
            </a:r>
            <a:r>
              <a:rPr lang="en-IN" b="0" dirty="0"/>
              <a:t> </a:t>
            </a:r>
            <a:r>
              <a:rPr lang="en-IN" b="0" dirty="0" err="1"/>
              <a:t>analyzes</a:t>
            </a:r>
            <a:r>
              <a:rPr lang="en-IN" b="0" dirty="0"/>
              <a:t> vendor contracts against predefined compliance policies.</a:t>
            </a:r>
          </a:p>
          <a:p>
            <a:pPr marL="0" indent="0" algn="just" fontAlgn="t">
              <a:lnSpc>
                <a:spcPct val="100000"/>
              </a:lnSpc>
              <a:buNone/>
            </a:pPr>
            <a:endParaRPr lang="en-IN" b="0" dirty="0"/>
          </a:p>
          <a:p>
            <a:pPr algn="just" fontAlgn="t">
              <a:lnSpc>
                <a:spcPct val="100000"/>
              </a:lnSpc>
            </a:pPr>
            <a:r>
              <a:rPr lang="en-IN" b="0" dirty="0"/>
              <a:t>It uses </a:t>
            </a:r>
            <a:r>
              <a:rPr lang="en-IN" dirty="0"/>
              <a:t>RAG to retrieve relevant contract evidence and generate compliance findings</a:t>
            </a:r>
            <a:r>
              <a:rPr lang="en-IN" b="0" dirty="0"/>
              <a:t>, while PII redaction protects sensitive information during processing.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54840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87C4-5BCF-A01F-92B2-8B3F377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0CEB3C-9EB5-981E-701C-F40E6CE47D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9850" y="1202553"/>
            <a:ext cx="10624338" cy="5139832"/>
          </a:xfrm>
        </p:spPr>
        <p:txBody>
          <a:bodyPr/>
          <a:lstStyle/>
          <a:p>
            <a:pPr marL="0" indent="0" algn="just" fontAlgn="t">
              <a:buNone/>
            </a:pPr>
            <a:endParaRPr lang="en-IN" b="0" dirty="0"/>
          </a:p>
          <a:p>
            <a:pPr algn="just" fontAlgn="t"/>
            <a:r>
              <a:rPr lang="en-IN" b="0" dirty="0"/>
              <a:t>Vendor contracts such as </a:t>
            </a:r>
            <a:r>
              <a:rPr lang="en-IN" dirty="0"/>
              <a:t>SLAs</a:t>
            </a:r>
            <a:r>
              <a:rPr lang="en-IN" b="0" dirty="0"/>
              <a:t> contain important security, privacy, and compliance commitments.</a:t>
            </a:r>
          </a:p>
          <a:p>
            <a:pPr marL="0" indent="0" algn="just" fontAlgn="t">
              <a:buNone/>
            </a:pPr>
            <a:endParaRPr lang="en-IN" b="0" dirty="0"/>
          </a:p>
          <a:p>
            <a:pPr algn="just" fontAlgn="t"/>
            <a:r>
              <a:rPr lang="en-IN" b="0" dirty="0"/>
              <a:t>Manual review of these documents is </a:t>
            </a:r>
            <a:r>
              <a:rPr lang="en-IN" dirty="0"/>
              <a:t>time-consuming and repetitive</a:t>
            </a:r>
            <a:r>
              <a:rPr lang="en-IN" b="0" dirty="0"/>
              <a:t>, and relevant clauses or missing requirements can be difficult to identify.</a:t>
            </a:r>
          </a:p>
          <a:p>
            <a:pPr marL="0" indent="0" algn="just" fontAlgn="t">
              <a:buNone/>
            </a:pPr>
            <a:endParaRPr lang="en-IN" b="0" dirty="0"/>
          </a:p>
          <a:p>
            <a:pPr algn="just" fontAlgn="t"/>
            <a:r>
              <a:rPr lang="en-IN" b="0" dirty="0"/>
              <a:t>There is a need for a more efficient way to </a:t>
            </a:r>
            <a:r>
              <a:rPr lang="en-IN" dirty="0"/>
              <a:t>retrieve relevant contract evidence and assist with compliance assessment</a:t>
            </a:r>
            <a:r>
              <a:rPr lang="en-IN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7F1F2-1FBD-C533-09A4-3FD1A90C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755D7-06E9-853F-2391-870843D839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CDFAD0-4538-FBC5-F736-1CD12135EEA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2873894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E0-DDEC-91A5-6FCB-F9C2135A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8BF6E0-34C5-1CDF-C581-F6F957843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046379"/>
            <a:ext cx="10776475" cy="5139832"/>
          </a:xfrm>
        </p:spPr>
        <p:txBody>
          <a:bodyPr/>
          <a:lstStyle/>
          <a:p>
            <a:pPr marL="514350" lvl="0" indent="-514350" algn="just" fontAlgn="t">
              <a:buFont typeface="+mj-lt"/>
              <a:buAutoNum type="arabicPeriod"/>
            </a:pPr>
            <a:endParaRPr lang="en-IN" b="0" dirty="0"/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Upload and process </a:t>
            </a:r>
            <a:r>
              <a:rPr lang="en-IN" dirty="0"/>
              <a:t>vendor contract documents</a:t>
            </a:r>
            <a:r>
              <a:rPr lang="en-IN" b="0" dirty="0"/>
              <a:t>.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Extract contract text and relevant document information.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Detect and redact </a:t>
            </a:r>
            <a:r>
              <a:rPr lang="en-IN" dirty="0"/>
              <a:t>sensitive information</a:t>
            </a:r>
            <a:r>
              <a:rPr lang="en-IN" b="0" dirty="0"/>
              <a:t> before further processing.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Process and store contract content for </a:t>
            </a:r>
            <a:r>
              <a:rPr lang="en-IN" dirty="0"/>
              <a:t>semantic retrieval</a:t>
            </a:r>
            <a:r>
              <a:rPr lang="en-IN" b="0" dirty="0"/>
              <a:t>.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Retrieve relevant clauses based on predefined compliance policies.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Use a </a:t>
            </a:r>
            <a:r>
              <a:rPr lang="en-IN" dirty="0"/>
              <a:t>local LLM</a:t>
            </a:r>
            <a:r>
              <a:rPr lang="en-IN" b="0" dirty="0"/>
              <a:t> to evaluate retrieved evidence and generate compliance findings.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Present findings with </a:t>
            </a:r>
            <a:r>
              <a:rPr lang="en-IN" dirty="0"/>
              <a:t>supporting evidence and remediation recommendations</a:t>
            </a:r>
            <a:r>
              <a:rPr lang="en-IN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15DF9-FEC1-6033-766C-3D1AB28C189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43BBE8-1C3B-2365-7791-E88E5D603B5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97E32D-C08D-D20C-22B0-73F13BF149E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946525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24291B-7EDA-4E3D-40F5-03FDC22C33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053053"/>
            <a:ext cx="10624338" cy="4751893"/>
          </a:xfrm>
        </p:spPr>
        <p:txBody>
          <a:bodyPr/>
          <a:lstStyle/>
          <a:p>
            <a:pPr marL="342900" lvl="0" indent="-342900" algn="just" fontAlgn="t"/>
            <a:endParaRPr lang="en-IN" dirty="0">
              <a:highlight>
                <a:srgbClr val="FFFFFF"/>
              </a:highlight>
            </a:endParaRP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Document Extraction:</a:t>
            </a:r>
            <a:r>
              <a:rPr lang="en-IN" b="0" dirty="0">
                <a:highlight>
                  <a:srgbClr val="FFFFFF"/>
                </a:highlight>
              </a:rPr>
              <a:t> PDF validation and page-level text extraction</a:t>
            </a: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PII Redaction:</a:t>
            </a:r>
            <a:r>
              <a:rPr lang="en-IN" b="0" dirty="0">
                <a:highlight>
                  <a:srgbClr val="FFFFFF"/>
                </a:highlight>
              </a:rPr>
              <a:t> Presidio and </a:t>
            </a:r>
            <a:r>
              <a:rPr lang="en-IN" b="0" dirty="0" err="1">
                <a:highlight>
                  <a:srgbClr val="FFFFFF"/>
                </a:highlight>
              </a:rPr>
              <a:t>spaCy</a:t>
            </a:r>
            <a:endParaRPr lang="en-IN" b="0" dirty="0">
              <a:highlight>
                <a:srgbClr val="FFFFFF"/>
              </a:highlight>
            </a:endParaRP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Chunking:</a:t>
            </a:r>
            <a:r>
              <a:rPr lang="en-IN" b="0" dirty="0">
                <a:highlight>
                  <a:srgbClr val="FFFFFF"/>
                </a:highlight>
              </a:rPr>
              <a:t> Paragraph-based sanitized chunks</a:t>
            </a: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Embedding:</a:t>
            </a:r>
            <a:r>
              <a:rPr lang="en-IN" b="0" dirty="0">
                <a:highlight>
                  <a:srgbClr val="FFFFFF"/>
                </a:highlight>
              </a:rPr>
              <a:t> </a:t>
            </a:r>
            <a:r>
              <a:rPr lang="en-IN" b="0" dirty="0" err="1">
                <a:highlight>
                  <a:srgbClr val="FFFFFF"/>
                </a:highlight>
              </a:rPr>
              <a:t>Ollama</a:t>
            </a:r>
            <a:r>
              <a:rPr lang="en-IN" b="0" dirty="0">
                <a:highlight>
                  <a:srgbClr val="FFFFFF"/>
                </a:highlight>
              </a:rPr>
              <a:t> granite-embedding:30m</a:t>
            </a: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Vector Storage:</a:t>
            </a:r>
            <a:r>
              <a:rPr lang="en-IN" b="0" dirty="0">
                <a:highlight>
                  <a:srgbClr val="FFFFFF"/>
                </a:highlight>
              </a:rPr>
              <a:t> </a:t>
            </a:r>
            <a:r>
              <a:rPr lang="en-IN" b="0" dirty="0" err="1">
                <a:highlight>
                  <a:srgbClr val="FFFFFF"/>
                </a:highlight>
              </a:rPr>
              <a:t>ChromaDB</a:t>
            </a:r>
            <a:endParaRPr lang="en-IN" b="0" dirty="0">
              <a:highlight>
                <a:srgbClr val="FFFFFF"/>
              </a:highlight>
            </a:endParaRP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Retrieval:</a:t>
            </a:r>
            <a:r>
              <a:rPr lang="en-IN" b="0" dirty="0">
                <a:highlight>
                  <a:srgbClr val="FFFFFF"/>
                </a:highlight>
              </a:rPr>
              <a:t> Top-three policy-relevant chunks</a:t>
            </a: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Compliance Analysis:</a:t>
            </a:r>
            <a:r>
              <a:rPr lang="en-IN" b="0" dirty="0">
                <a:highlight>
                  <a:srgbClr val="FFFFFF"/>
                </a:highlight>
              </a:rPr>
              <a:t> </a:t>
            </a:r>
            <a:r>
              <a:rPr lang="en-IN" b="0" dirty="0" err="1">
                <a:highlight>
                  <a:srgbClr val="FFFFFF"/>
                </a:highlight>
              </a:rPr>
              <a:t>Ollama</a:t>
            </a:r>
            <a:r>
              <a:rPr lang="en-IN" b="0" dirty="0">
                <a:highlight>
                  <a:srgbClr val="FFFFFF"/>
                </a:highlight>
              </a:rPr>
              <a:t> granite4.1:8b</a:t>
            </a:r>
          </a:p>
          <a:p>
            <a:pPr algn="just" fontAlgn="t"/>
            <a:r>
              <a:rPr lang="en-IN" dirty="0">
                <a:highlight>
                  <a:srgbClr val="FFFFFF"/>
                </a:highlight>
              </a:rPr>
              <a:t>Validation and UI:</a:t>
            </a:r>
            <a:r>
              <a:rPr lang="en-IN" b="0" dirty="0">
                <a:highlight>
                  <a:srgbClr val="FFFFFF"/>
                </a:highlight>
              </a:rPr>
              <a:t> </a:t>
            </a:r>
            <a:r>
              <a:rPr lang="en-IN" b="0" dirty="0" err="1">
                <a:highlight>
                  <a:srgbClr val="FFFFFF"/>
                </a:highlight>
              </a:rPr>
              <a:t>Pydantic</a:t>
            </a:r>
            <a:r>
              <a:rPr lang="en-IN" b="0" dirty="0">
                <a:highlight>
                  <a:srgbClr val="FFFFFF"/>
                </a:highlight>
              </a:rPr>
              <a:t> and </a:t>
            </a:r>
            <a:r>
              <a:rPr lang="en-IN" b="0" dirty="0" err="1">
                <a:highlight>
                  <a:srgbClr val="FFFFFF"/>
                </a:highlight>
              </a:rPr>
              <a:t>Streamlit</a:t>
            </a:r>
            <a:endParaRPr lang="en-IN" b="0" dirty="0">
              <a:highlight>
                <a:srgbClr val="FFFFFF"/>
              </a:highlight>
            </a:endParaRPr>
          </a:p>
          <a:p>
            <a:pPr lvl="1" algn="just"/>
            <a:endParaRPr lang="en-US" dirty="0">
              <a:solidFill>
                <a:srgbClr val="1C3898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 Name and Components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77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7011" y="1311865"/>
            <a:ext cx="9253764" cy="5084230"/>
          </a:xfrm>
        </p:spPr>
        <p:txBody>
          <a:bodyPr/>
          <a:lstStyle/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Upload and validate a text-based PDF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Extract text with page metadata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Detect and redact approved PII types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Divide sanitized text into paragraph-based chunks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GB" b="0" dirty="0"/>
              <a:t>Generate embeddings using </a:t>
            </a:r>
            <a:r>
              <a:rPr lang="en-GB" dirty="0" err="1"/>
              <a:t>Ollama</a:t>
            </a:r>
            <a:r>
              <a:rPr lang="en-GB" dirty="0"/>
              <a:t> Granite Embedding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b="0" dirty="0"/>
              <a:t>Store sanitized chunks in </a:t>
            </a:r>
            <a:r>
              <a:rPr lang="en-IN" dirty="0" err="1"/>
              <a:t>ChromaDB</a:t>
            </a:r>
            <a:endParaRPr lang="en-IN" b="0" dirty="0"/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Retrieve the </a:t>
            </a:r>
            <a:r>
              <a:rPr lang="en-IN" dirty="0"/>
              <a:t>top 3 relevant chunks</a:t>
            </a:r>
            <a:r>
              <a:rPr lang="en-IN" b="0" dirty="0"/>
              <a:t> for each policy</a:t>
            </a:r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Generate a structured compliance finding using a </a:t>
            </a:r>
            <a:r>
              <a:rPr lang="en-IN" dirty="0"/>
              <a:t>local LLM</a:t>
            </a:r>
            <a:endParaRPr lang="en-IN" b="0" dirty="0"/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Validate the finding using </a:t>
            </a:r>
            <a:r>
              <a:rPr lang="en-IN" dirty="0" err="1"/>
              <a:t>Pydantic</a:t>
            </a:r>
            <a:endParaRPr lang="en-IN" b="0" dirty="0"/>
          </a:p>
          <a:p>
            <a:pPr marL="514350" lvl="0" indent="-514350" algn="just" fontAlgn="t">
              <a:buFont typeface="+mj-lt"/>
              <a:buAutoNum type="arabicPeriod"/>
            </a:pPr>
            <a:r>
              <a:rPr lang="en-IN" b="0" dirty="0"/>
              <a:t>Flag uncertain findings for </a:t>
            </a:r>
            <a:r>
              <a:rPr lang="en-IN" dirty="0"/>
              <a:t>human review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Methodology/RAG Workflow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1F2707-E664-FBAB-94E2-5E4808485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143C367-42AB-1444-4683-A47F4A155B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9390" y="1271219"/>
            <a:ext cx="9950944" cy="4142989"/>
          </a:xfrm>
        </p:spPr>
        <p:txBody>
          <a:bodyPr/>
          <a:lstStyle/>
          <a:p>
            <a:pPr marL="342900" lvl="0" indent="-342900" fontAlgn="t"/>
            <a:r>
              <a:rPr lang="en-IN" dirty="0"/>
              <a:t>Python 3.12</a:t>
            </a:r>
            <a:r>
              <a:rPr lang="en-IN" b="0" dirty="0"/>
              <a:t> – Development language</a:t>
            </a:r>
          </a:p>
          <a:p>
            <a:pPr marL="342900" lvl="0" indent="-342900" fontAlgn="t"/>
            <a:r>
              <a:rPr lang="en-IN" dirty="0" err="1"/>
              <a:t>Streamlit</a:t>
            </a:r>
            <a:r>
              <a:rPr lang="en-IN" b="0" dirty="0"/>
              <a:t> – User interface</a:t>
            </a:r>
          </a:p>
          <a:p>
            <a:pPr marL="342900" lvl="0" indent="-342900" fontAlgn="t"/>
            <a:r>
              <a:rPr lang="en-IN" dirty="0" err="1"/>
              <a:t>pypdf</a:t>
            </a:r>
            <a:r>
              <a:rPr lang="en-IN" b="0" dirty="0"/>
              <a:t> – PDF text extraction</a:t>
            </a:r>
          </a:p>
          <a:p>
            <a:pPr marL="342900" lvl="0" indent="-342900" fontAlgn="t"/>
            <a:r>
              <a:rPr lang="en-IN" dirty="0"/>
              <a:t>Presidio + </a:t>
            </a:r>
            <a:r>
              <a:rPr lang="en-IN" dirty="0" err="1"/>
              <a:t>spaCy</a:t>
            </a:r>
            <a:r>
              <a:rPr lang="en-IN" b="0" dirty="0"/>
              <a:t> – PII detection and redaction</a:t>
            </a:r>
          </a:p>
          <a:p>
            <a:pPr marL="342900" lvl="0" indent="-342900" fontAlgn="t"/>
            <a:r>
              <a:rPr lang="en-IN" dirty="0" err="1"/>
              <a:t>Ollama</a:t>
            </a:r>
            <a:r>
              <a:rPr lang="en-IN" b="0" dirty="0"/>
              <a:t> – Local AI model execution</a:t>
            </a:r>
          </a:p>
          <a:p>
            <a:pPr marL="342900" lvl="0" indent="-342900" fontAlgn="t"/>
            <a:r>
              <a:rPr lang="en-IN" dirty="0"/>
              <a:t>granite-embedding:30m</a:t>
            </a:r>
            <a:r>
              <a:rPr lang="en-IN" b="0" dirty="0"/>
              <a:t> – Embedding generation</a:t>
            </a:r>
          </a:p>
          <a:p>
            <a:pPr marL="342900" lvl="0" indent="-342900" fontAlgn="t"/>
            <a:r>
              <a:rPr lang="en-IN" dirty="0" err="1"/>
              <a:t>ChromaDB</a:t>
            </a:r>
            <a:r>
              <a:rPr lang="en-IN" b="0" dirty="0"/>
              <a:t> – Vector storage and retrieval</a:t>
            </a:r>
          </a:p>
          <a:p>
            <a:pPr marL="342900" lvl="0" indent="-342900" fontAlgn="t"/>
            <a:r>
              <a:rPr lang="en-IN" dirty="0" err="1"/>
              <a:t>Pydantic</a:t>
            </a:r>
            <a:r>
              <a:rPr lang="en-IN" b="0" dirty="0"/>
              <a:t> – Structured output validation</a:t>
            </a:r>
          </a:p>
          <a:p>
            <a:pPr marL="342900" lvl="0" indent="-342900" fontAlgn="t"/>
            <a:r>
              <a:rPr lang="en-IN" dirty="0" err="1"/>
              <a:t>Pytest</a:t>
            </a:r>
            <a:r>
              <a:rPr lang="en-IN" b="0" dirty="0"/>
              <a:t> – Testing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7BB138-4108-7025-2793-C2A4FCE0948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62ACEBA-7365-10FC-0B79-150229E40EC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97B217E2-E4A2-37D1-A0E5-6DA80065807B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0780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9E27-BA64-386A-2898-D26684EBB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0A2A87C-B51C-C852-35E8-8685B703BF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0" t="8771" r="6970" b="9526"/>
          <a:stretch>
            <a:fillRect/>
          </a:stretch>
        </p:blipFill>
        <p:spPr>
          <a:xfrm>
            <a:off x="1109663" y="3365292"/>
            <a:ext cx="9968459" cy="2846106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152EAD4-5AF6-3422-9509-FDC1D1F492E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34637"/>
            <a:ext cx="9773587" cy="4142989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Relevant clauses were retrieved from vendor documents.</a:t>
            </a:r>
          </a:p>
          <a:p>
            <a:pPr marL="342900" lvl="0" indent="-342900" fontAlgn="t"/>
            <a:r>
              <a:rPr lang="en-IN" b="0" dirty="0"/>
              <a:t>Compliance risks were identified and categorized.</a:t>
            </a:r>
          </a:p>
          <a:p>
            <a:pPr marL="342900" lvl="0" indent="-342900" fontAlgn="t"/>
            <a:r>
              <a:rPr lang="en-IN" b="0" dirty="0"/>
              <a:t>Findings were supported by extracted evidence.</a:t>
            </a:r>
          </a:p>
          <a:p>
            <a:pPr marL="342900" lvl="0" indent="-342900" fontAlgn="t"/>
            <a:r>
              <a:rPr lang="en-IN" b="0" dirty="0"/>
              <a:t>Structured reports and artifacts were generated automatically.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42E4B5-A741-2291-C1BD-28D448C3909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4E2CCC-51DF-477E-8FF8-298704D7ACFD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1A2B32C-2B1F-2D23-B287-4DFC788CC588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430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4772-37AD-BEBE-0892-6E0F115C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3EF565-8D5A-4C72-869A-249AAD0F1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buNone/>
            </a:pPr>
            <a:r>
              <a:rPr lang="en-IN" dirty="0">
                <a:solidFill>
                  <a:srgbClr val="1C4D98"/>
                </a:solidFill>
              </a:rPr>
              <a:t>Conclusion</a:t>
            </a:r>
          </a:p>
          <a:p>
            <a:pPr fontAlgn="t">
              <a:buNone/>
            </a:pPr>
            <a:r>
              <a:rPr lang="en-IN" b="0" dirty="0"/>
              <a:t>The project demonstrates how Retrieval-Augmented Generation (RAG) can assist vendor compliance auditing by combining document retrieval, privacy protection, and AI-based analysis.</a:t>
            </a:r>
          </a:p>
          <a:p>
            <a:pPr fontAlgn="t">
              <a:buNone/>
            </a:pPr>
            <a:r>
              <a:rPr lang="en-IN" dirty="0">
                <a:solidFill>
                  <a:srgbClr val="1C4D98"/>
                </a:solidFill>
              </a:rPr>
              <a:t>Future Work</a:t>
            </a:r>
          </a:p>
          <a:p>
            <a:pPr marL="342900" lvl="0" indent="-342900" fontAlgn="t"/>
            <a:r>
              <a:rPr lang="en-IN" b="0" dirty="0"/>
              <a:t>Support additional document formats such as </a:t>
            </a:r>
            <a:r>
              <a:rPr lang="en-IN" dirty="0"/>
              <a:t>DOCX and TXT</a:t>
            </a:r>
            <a:endParaRPr lang="en-IN" b="0" dirty="0"/>
          </a:p>
          <a:p>
            <a:pPr marL="342900" lvl="0" indent="-342900" fontAlgn="t"/>
            <a:r>
              <a:rPr lang="en-IN" b="0" dirty="0"/>
              <a:t>Expand the </a:t>
            </a:r>
            <a:r>
              <a:rPr lang="en-IN" dirty="0"/>
              <a:t>policy library and compliance coverage</a:t>
            </a:r>
            <a:endParaRPr lang="en-IN" b="0" dirty="0"/>
          </a:p>
          <a:p>
            <a:pPr marL="342900" lvl="0" indent="-342900" fontAlgn="t"/>
            <a:r>
              <a:rPr lang="en-IN" b="0" dirty="0"/>
              <a:t>Improve </a:t>
            </a:r>
            <a:r>
              <a:rPr lang="en-IN" dirty="0"/>
              <a:t>retrieval quality and evaluation</a:t>
            </a:r>
            <a:endParaRPr lang="en-IN" b="0" dirty="0"/>
          </a:p>
          <a:p>
            <a:pPr marL="342900" lvl="0" indent="-342900" fontAlgn="t"/>
            <a:r>
              <a:rPr lang="en-IN" b="0" dirty="0"/>
              <a:t>Enhance reporting and </a:t>
            </a:r>
            <a:r>
              <a:rPr lang="en-IN" dirty="0"/>
              <a:t>audit history</a:t>
            </a:r>
          </a:p>
          <a:p>
            <a:pPr marL="342900" lvl="0" indent="-342900" fontAlgn="t"/>
            <a:r>
              <a:rPr lang="en-IN" b="0" dirty="0"/>
              <a:t>Extend the system for </a:t>
            </a:r>
            <a:r>
              <a:rPr lang="en-IN" dirty="0"/>
              <a:t>larger-scale and production environments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F09EA-5B59-B9E7-9820-07DF874EC34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 &amp;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7830DD-0FB3-22D7-D240-CF22ECBC6E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5AA7D3-2351-30B5-C695-C11658D91B8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3988566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9468" y="1271219"/>
            <a:ext cx="10070865" cy="4142989"/>
          </a:xfrm>
        </p:spPr>
        <p:txBody>
          <a:bodyPr/>
          <a:lstStyle/>
          <a:p>
            <a:pPr fontAlgn="t">
              <a:buNone/>
            </a:pPr>
            <a:endParaRPr lang="en-IN" b="0" dirty="0"/>
          </a:p>
          <a:p>
            <a:pPr fontAlgn="t">
              <a:buNone/>
            </a:pPr>
            <a:r>
              <a:rPr lang="en-IN" b="0" dirty="0"/>
              <a:t>I sincerely thank my Project Mentor for the guidance and support provided throughout the project.</a:t>
            </a:r>
          </a:p>
          <a:p>
            <a:pPr fontAlgn="t">
              <a:buNone/>
            </a:pPr>
            <a:endParaRPr lang="en-IN" b="0" dirty="0"/>
          </a:p>
          <a:p>
            <a:pPr fontAlgn="t">
              <a:buNone/>
            </a:pPr>
            <a:r>
              <a:rPr lang="en-IN" b="0" dirty="0"/>
              <a:t>I would also like to thank the Classroom Coordinators, Faculty Members, and the institution for their valuable support and encouragement.</a:t>
            </a:r>
          </a:p>
          <a:p>
            <a:pPr fontAlgn="t">
              <a:buNone/>
            </a:pPr>
            <a:endParaRPr lang="en-IN" b="0" dirty="0"/>
          </a:p>
          <a:p>
            <a:pPr fontAlgn="t">
              <a:buNone/>
            </a:pPr>
            <a:r>
              <a:rPr lang="en-IN" b="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RAG-Powered Vendor Compliance Auditor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BE389-F902-35BA-81B1-F92D7E935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4AFA806-199F-894F-39BD-A75243798A8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lvl="0" indent="-342900" fontAlgn="t"/>
            <a:r>
              <a:rPr lang="en-IN" dirty="0"/>
              <a:t>Lewis, P. et al. (2020).</a:t>
            </a:r>
            <a:r>
              <a:rPr lang="en-IN" b="0" dirty="0"/>
              <a:t> </a:t>
            </a:r>
            <a:r>
              <a:rPr lang="en-IN" b="0" i="1" dirty="0"/>
              <a:t>Retrieval-Augmented Generation for Knowledge-Intensive NLP Tasks.</a:t>
            </a:r>
            <a:r>
              <a:rPr lang="en-IN" b="0" dirty="0"/>
              <a:t> </a:t>
            </a:r>
            <a:r>
              <a:rPr lang="en-IN" b="0" dirty="0" err="1"/>
              <a:t>NeurIPS</a:t>
            </a:r>
            <a:r>
              <a:rPr lang="en-IN" b="0" dirty="0"/>
              <a:t> 2020.</a:t>
            </a:r>
          </a:p>
          <a:p>
            <a:pPr marL="342900" lvl="0" indent="-342900" fontAlgn="t"/>
            <a:r>
              <a:rPr lang="en-IN" dirty="0"/>
              <a:t>Gao, Y. et al. (2023/2024).</a:t>
            </a:r>
            <a:r>
              <a:rPr lang="en-IN" b="0" dirty="0"/>
              <a:t> </a:t>
            </a:r>
            <a:r>
              <a:rPr lang="en-IN" b="0" i="1" dirty="0"/>
              <a:t>Retrieval-Augmented Generation for Large Language Models: A Survey.</a:t>
            </a:r>
          </a:p>
          <a:p>
            <a:pPr marL="342900" indent="-342900" fontAlgn="t"/>
            <a:r>
              <a:rPr lang="en-IN" dirty="0"/>
              <a:t>Shi, W. et al. (2023).</a:t>
            </a:r>
            <a:r>
              <a:rPr lang="en-IN" b="0" dirty="0"/>
              <a:t> </a:t>
            </a:r>
            <a:r>
              <a:rPr lang="en-IN" b="0" i="1" dirty="0"/>
              <a:t>REPLUG: Retrieval-Augmented Black-Box Language Models.</a:t>
            </a:r>
          </a:p>
          <a:p>
            <a:pPr marL="342900" indent="-342900" fontAlgn="t"/>
            <a:r>
              <a:rPr lang="en-IN" dirty="0"/>
              <a:t>Jiang, Z. et al. (2023).</a:t>
            </a:r>
            <a:r>
              <a:rPr lang="en-IN" b="0" dirty="0"/>
              <a:t> </a:t>
            </a:r>
            <a:r>
              <a:rPr lang="en-IN" b="0" i="1" dirty="0"/>
              <a:t>Active Retrieval Augmented Generation.</a:t>
            </a:r>
            <a:r>
              <a:rPr lang="en-IN" b="0" dirty="0"/>
              <a:t> EMNLP 2023.</a:t>
            </a:r>
          </a:p>
          <a:p>
            <a:pPr marL="342900" indent="-342900" fontAlgn="t"/>
            <a:r>
              <a:rPr lang="en-IN" dirty="0"/>
              <a:t>Asai, A. et al. (2023).</a:t>
            </a:r>
            <a:r>
              <a:rPr lang="en-IN" b="0" dirty="0"/>
              <a:t> </a:t>
            </a:r>
            <a:r>
              <a:rPr lang="en-IN" b="0" i="1" dirty="0"/>
              <a:t>Self-RAG: Learning to Retrieve, Generate, and Critique through Self-Reflection.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51F0D-837C-EA84-C110-AD78DF72417D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48ED76-58C3-2CB5-46E8-023D8461C3B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E948FBD-B7FB-347C-4008-79066933DAB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1844673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B2CE49-22E4-4526-D627-49F17C1F0D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9F6C0C-70F8-AA62-AE86-A2B0888186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Yan, S.-Q. et al. (2024).</a:t>
            </a:r>
            <a:r>
              <a:rPr lang="en-IN" b="0" dirty="0"/>
              <a:t> </a:t>
            </a:r>
            <a:r>
              <a:rPr lang="en-IN" b="0" i="1" dirty="0"/>
              <a:t>Corrective Retrieval Augmented Generation.</a:t>
            </a:r>
          </a:p>
          <a:p>
            <a:pPr marL="342900" indent="-342900" fontAlgn="t"/>
            <a:r>
              <a:rPr lang="en-IN" dirty="0"/>
              <a:t>Wang, X. et al. (2024).</a:t>
            </a:r>
            <a:r>
              <a:rPr lang="en-IN" b="0" dirty="0"/>
              <a:t> </a:t>
            </a:r>
            <a:r>
              <a:rPr lang="en-IN" b="0" i="1" dirty="0"/>
              <a:t>Searching for Best Practices in Retrieval-Augmented Generation.</a:t>
            </a:r>
            <a:r>
              <a:rPr lang="en-IN" b="0" dirty="0"/>
              <a:t> EMNLP 2024.</a:t>
            </a:r>
          </a:p>
          <a:p>
            <a:pPr marL="342900" indent="-342900" fontAlgn="t"/>
            <a:r>
              <a:rPr lang="en-IN" dirty="0"/>
              <a:t>Es, S., James, J., Espinosa-Anke, L., &amp; </a:t>
            </a:r>
            <a:r>
              <a:rPr lang="en-IN" dirty="0" err="1"/>
              <a:t>Schockaert</a:t>
            </a:r>
            <a:r>
              <a:rPr lang="en-IN" dirty="0"/>
              <a:t>, S. (2024).</a:t>
            </a:r>
            <a:r>
              <a:rPr lang="en-IN" b="0" dirty="0"/>
              <a:t> </a:t>
            </a:r>
            <a:r>
              <a:rPr lang="en-IN" b="0" i="1" dirty="0"/>
              <a:t>RAGAs: Automated Evaluation of Retrieval Augmented Generation.</a:t>
            </a:r>
            <a:r>
              <a:rPr lang="en-IN" b="0" dirty="0"/>
              <a:t> EACL 2024.</a:t>
            </a:r>
          </a:p>
          <a:p>
            <a:pPr marL="342900" indent="-342900" fontAlgn="t"/>
            <a:r>
              <a:rPr lang="en-IN" dirty="0"/>
              <a:t>Saad-Falcon, J., Khattab, O., Potts, C., &amp; Zaharia, M. (2024).</a:t>
            </a:r>
            <a:r>
              <a:rPr lang="en-IN" b="0" dirty="0"/>
              <a:t> </a:t>
            </a:r>
            <a:r>
              <a:rPr lang="en-IN" b="0" i="1" dirty="0"/>
              <a:t>ARES: An Automated Evaluation Framework for Retrieval-Augmented Generation Systems.</a:t>
            </a:r>
            <a:r>
              <a:rPr lang="en-IN" b="0" dirty="0"/>
              <a:t> NAACL 2024.</a:t>
            </a:r>
          </a:p>
          <a:p>
            <a:pPr marL="342900" indent="-342900" fontAlgn="t"/>
            <a:r>
              <a:rPr lang="en-IN" dirty="0"/>
              <a:t>Ru, D. et al. (2024).</a:t>
            </a:r>
            <a:r>
              <a:rPr lang="en-IN" b="0" dirty="0"/>
              <a:t> </a:t>
            </a:r>
            <a:r>
              <a:rPr lang="en-IN" b="0" i="1" dirty="0" err="1"/>
              <a:t>RAGChecker</a:t>
            </a:r>
            <a:r>
              <a:rPr lang="en-IN" b="0" i="1" dirty="0"/>
              <a:t>: A Fine-grained Framework for Diagnosing Retrieval-Augmented Generation.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CF33C7-8181-2684-7755-FA0F805218FE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D08D85-2C70-73C7-628E-EB0A3910057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3CAC4A5-6F93-B9FB-F9B0-148D9A24A72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3985520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0DA7A-F874-5A9F-D5AF-6738BCD7B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BF6CDD6-C05D-03C2-D9E9-AC3641DE24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indent="-342900" fontAlgn="t"/>
            <a:r>
              <a:rPr lang="en-IN" dirty="0"/>
              <a:t>Pipitone, N. &amp; </a:t>
            </a:r>
            <a:r>
              <a:rPr lang="en-IN" dirty="0" err="1"/>
              <a:t>Houir</a:t>
            </a:r>
            <a:r>
              <a:rPr lang="en-IN" dirty="0"/>
              <a:t> Alami, G. (2024).</a:t>
            </a:r>
            <a:r>
              <a:rPr lang="en-IN" b="0" dirty="0"/>
              <a:t> </a:t>
            </a:r>
            <a:r>
              <a:rPr lang="en-IN" b="0" i="1" dirty="0" err="1"/>
              <a:t>LegalBench</a:t>
            </a:r>
            <a:r>
              <a:rPr lang="en-IN" b="0" i="1" dirty="0"/>
              <a:t>-RAG: A Benchmark for Retrieval-Augmented Generation in the Legal Domain.</a:t>
            </a:r>
          </a:p>
          <a:p>
            <a:pPr marL="342900" indent="-342900" fontAlgn="t"/>
            <a:r>
              <a:rPr lang="en-IN" dirty="0"/>
              <a:t>Guha, N. et al. (2023).</a:t>
            </a:r>
            <a:r>
              <a:rPr lang="en-IN" b="0" dirty="0"/>
              <a:t> </a:t>
            </a:r>
            <a:r>
              <a:rPr lang="en-IN" b="0" i="1" dirty="0" err="1"/>
              <a:t>LegalBench</a:t>
            </a:r>
            <a:r>
              <a:rPr lang="en-IN" b="0" i="1" dirty="0"/>
              <a:t>: A Collaboratively Built Benchmark for Measuring Legal Reasoning in Large Language Models.</a:t>
            </a:r>
          </a:p>
          <a:p>
            <a:pPr marL="342900" indent="-342900" fontAlgn="t"/>
            <a:r>
              <a:rPr lang="en-IN" dirty="0"/>
              <a:t>Liu, N. F. et al. (2023).</a:t>
            </a:r>
            <a:r>
              <a:rPr lang="en-IN" b="0" dirty="0"/>
              <a:t> </a:t>
            </a:r>
            <a:r>
              <a:rPr lang="en-IN" b="0" i="1" dirty="0"/>
              <a:t>Lost in the Middle: How Language Models Use Long Contexts.</a:t>
            </a:r>
            <a:r>
              <a:rPr lang="en-IN" b="0" dirty="0"/>
              <a:t> TACL.</a:t>
            </a:r>
          </a:p>
          <a:p>
            <a:pPr marL="342900" indent="-342900" fontAlgn="t"/>
            <a:r>
              <a:rPr lang="en-IN" dirty="0"/>
              <a:t>Huang, L. et al. (2023/2024).</a:t>
            </a:r>
            <a:r>
              <a:rPr lang="en-IN" b="0" dirty="0"/>
              <a:t> </a:t>
            </a:r>
            <a:r>
              <a:rPr lang="en-IN" b="0" i="1" dirty="0"/>
              <a:t>A Survey on Hallucination in Large Language Models: Principles, Taxonomy, Challenges, and Open Questions.</a:t>
            </a:r>
          </a:p>
          <a:p>
            <a:pPr marL="342900" indent="-342900" fontAlgn="t"/>
            <a:r>
              <a:rPr lang="en-IN" dirty="0"/>
              <a:t>Park, M., Oh, H., Choi, E., &amp; Hwang, W. (2025).</a:t>
            </a:r>
            <a:r>
              <a:rPr lang="en-IN" b="0" dirty="0"/>
              <a:t> </a:t>
            </a:r>
            <a:r>
              <a:rPr lang="en-IN" b="0" i="1" dirty="0"/>
              <a:t>LRAGE: Legal Retrieval Augmented Generation Evaluation Tool.</a:t>
            </a: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EBFD59E-A444-C158-9048-32F7F999D99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lang="en-US" sz="3600" b="1" dirty="0">
              <a:solidFill>
                <a:srgbClr val="5B9BD5">
                  <a:lumMod val="50000"/>
                </a:srgb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CBEBF1A-A2E3-4660-152D-9C48F37D31E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7DD1D53-C921-EAF5-EA6F-03CC9251F28B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RAG-Powered Vendor Compliance Auditor</a:t>
            </a:r>
          </a:p>
        </p:txBody>
      </p:sp>
    </p:spTree>
    <p:extLst>
      <p:ext uri="{BB962C8B-B14F-4D97-AF65-F5344CB8AC3E}">
        <p14:creationId xmlns:p14="http://schemas.microsoft.com/office/powerpoint/2010/main" val="3000305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1"/>
            <a:ext cx="12254538" cy="6887838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617257" y="32106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3162886" y="1090231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555751" y="1295895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VIT Vellore and LTM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381908" y="1612785"/>
            <a:ext cx="11428184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3600" b="1" dirty="0">
              <a:solidFill>
                <a:prstClr val="white"/>
              </a:solidFill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Project Title</a:t>
            </a:r>
          </a:p>
          <a:p>
            <a:pPr lvl="0" algn="ctr">
              <a:defRPr/>
            </a:pPr>
            <a:r>
              <a:rPr lang="en-US" sz="3600" b="1" dirty="0">
                <a:solidFill>
                  <a:prstClr val="white"/>
                </a:solidFill>
                <a:cs typeface="Calibri" panose="020F0502020204030204" pitchFamily="34" charset="0"/>
              </a:rPr>
              <a:t>Autonomous Cloud FinOps Remediation Agent</a:t>
            </a: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Team Member</a:t>
            </a:r>
          </a:p>
          <a:p>
            <a:pPr algn="ctr">
              <a:defRPr/>
            </a:pPr>
            <a:r>
              <a:rPr lang="en-US" sz="2400" b="1" dirty="0">
                <a:solidFill>
                  <a:prstClr val="white"/>
                </a:solidFill>
                <a:cs typeface="Calibri" panose="020F0502020204030204" pitchFamily="34" charset="0"/>
              </a:rPr>
              <a:t>Daniel Robin – T9925</a:t>
            </a:r>
            <a:endParaRPr lang="en-US" sz="5400" b="1" dirty="0">
              <a:solidFill>
                <a:prstClr val="white"/>
              </a:solidFill>
              <a:latin typeface="Frutiger 45 bold"/>
              <a:cs typeface="Calibri" panose="020F0502020204030204" pitchFamily="34" charset="0"/>
            </a:endParaRPr>
          </a:p>
          <a:p>
            <a:pPr lvl="0" algn="ctr">
              <a:defRPr/>
            </a:pPr>
            <a:endParaRPr kumimoji="0" lang="en-US" sz="5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45 bold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358EAE-26F9-9DA7-7AF7-6F0E6D503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290" y="5296588"/>
            <a:ext cx="1958640" cy="19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414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594385"/>
            <a:ext cx="10624338" cy="4465275"/>
          </a:xfrm>
        </p:spPr>
        <p:txBody>
          <a:bodyPr/>
          <a:lstStyle/>
          <a:p>
            <a:pPr marL="0" indent="0" algn="just" fontAlgn="t">
              <a:buNone/>
            </a:pPr>
            <a:endParaRPr lang="en-IN" b="0" dirty="0"/>
          </a:p>
          <a:p>
            <a:pPr algn="just" fontAlgn="t"/>
            <a:r>
              <a:rPr lang="en-IN" b="0" dirty="0"/>
              <a:t>The </a:t>
            </a:r>
            <a:r>
              <a:rPr lang="en-IN" dirty="0"/>
              <a:t>Autonomous Cloud FinOps Remediation Agent</a:t>
            </a:r>
            <a:r>
              <a:rPr lang="en-IN" b="0" dirty="0"/>
              <a:t> identifies inefficient cloud resources and recommends suitable cost-saving actions.</a:t>
            </a:r>
          </a:p>
          <a:p>
            <a:pPr marL="0" indent="0" algn="just" fontAlgn="t">
              <a:buNone/>
            </a:pPr>
            <a:endParaRPr lang="en-IN" b="0" dirty="0"/>
          </a:p>
          <a:p>
            <a:pPr algn="just" fontAlgn="t"/>
            <a:r>
              <a:rPr lang="en-IN" b="0" dirty="0"/>
              <a:t>It uses synthetic AWS and Azure data to estimate potential savings and generate safe, reviewable remediation proposals.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b="1" i="1" dirty="0">
                <a:solidFill>
                  <a:srgbClr val="FFFFFF"/>
                </a:solidFill>
              </a:rPr>
              <a:t>Autonomous Cloud FinOps Remediation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E87C4-5BCF-A01F-92B2-8B3F37759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0CEB3C-9EB5-981E-701C-F40E6CE47D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1724" y="1487033"/>
            <a:ext cx="10624338" cy="5139832"/>
          </a:xfrm>
        </p:spPr>
        <p:txBody>
          <a:bodyPr/>
          <a:lstStyle/>
          <a:p>
            <a:pPr fontAlgn="t">
              <a:buNone/>
            </a:pPr>
            <a:r>
              <a:rPr lang="en-IN" b="0" dirty="0"/>
              <a:t>Organizations may incur unnecessary cloud costs from:</a:t>
            </a:r>
          </a:p>
          <a:p>
            <a:pPr marL="342900" lvl="0" indent="-342900" fontAlgn="t"/>
            <a:r>
              <a:rPr lang="en-IN" b="0" dirty="0"/>
              <a:t>Idle compute resources</a:t>
            </a:r>
          </a:p>
          <a:p>
            <a:pPr marL="342900" lvl="0" indent="-342900" fontAlgn="t"/>
            <a:r>
              <a:rPr lang="en-IN" b="0" dirty="0"/>
              <a:t>Unattached storage volumes</a:t>
            </a:r>
          </a:p>
          <a:p>
            <a:pPr marL="342900" lvl="0" indent="-342900" fontAlgn="t"/>
            <a:r>
              <a:rPr lang="en-IN" b="0" dirty="0"/>
              <a:t>Old snapshots</a:t>
            </a:r>
          </a:p>
          <a:p>
            <a:pPr marL="342900" lvl="0" indent="-342900" fontAlgn="t"/>
            <a:r>
              <a:rPr lang="en-IN" b="0" dirty="0"/>
              <a:t>Missing ownership or governance tags</a:t>
            </a:r>
          </a:p>
          <a:p>
            <a:pPr marL="342900" lvl="0" indent="-342900" fontAlgn="t"/>
            <a:r>
              <a:rPr lang="en-IN" b="0" dirty="0"/>
              <a:t>Oversized cloud resources</a:t>
            </a:r>
          </a:p>
          <a:p>
            <a:pPr fontAlgn="t">
              <a:buNone/>
            </a:pPr>
            <a:endParaRPr lang="en-IN" b="0" dirty="0"/>
          </a:p>
          <a:p>
            <a:pPr fontAlgn="t">
              <a:buNone/>
            </a:pPr>
            <a:r>
              <a:rPr lang="en-IN" b="0" dirty="0"/>
              <a:t>Manually identifying these issues across a cloud environment can be </a:t>
            </a:r>
            <a:r>
              <a:rPr lang="en-IN" dirty="0"/>
              <a:t>time-consuming, inconsistent, and difficult to track</a:t>
            </a:r>
            <a:r>
              <a:rPr lang="en-IN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F7F1F2-1FBD-C533-09A4-3FD1A90CD4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85755D7-06E9-853F-2391-870843D83956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7CDFAD0-4538-FBC5-F736-1CD12135EEA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</p:txBody>
      </p:sp>
    </p:spTree>
    <p:extLst>
      <p:ext uri="{BB962C8B-B14F-4D97-AF65-F5344CB8AC3E}">
        <p14:creationId xmlns:p14="http://schemas.microsoft.com/office/powerpoint/2010/main" val="3391825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2C4E0-DDEC-91A5-6FCB-F9C2135A9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08BF6E0-34C5-1CDF-C581-F6F957843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356557"/>
            <a:ext cx="10776475" cy="5139832"/>
          </a:xfrm>
        </p:spPr>
        <p:txBody>
          <a:bodyPr/>
          <a:lstStyle/>
          <a:p>
            <a:pPr marL="342900" lvl="0" indent="-342900" fontAlgn="t">
              <a:lnSpc>
                <a:spcPct val="100000"/>
              </a:lnSpc>
            </a:pPr>
            <a:r>
              <a:rPr lang="en-IN" b="0" dirty="0" err="1"/>
              <a:t>Analyze</a:t>
            </a:r>
            <a:r>
              <a:rPr lang="en-IN" b="0" dirty="0"/>
              <a:t> synthetic AWS and Azure cloud resource data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0" dirty="0"/>
              <a:t>Identify underutilized or unnecessary cloud resources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0" dirty="0"/>
              <a:t>Protect critical, production, and uncertain resources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0" dirty="0"/>
              <a:t>Estimate potential monthly and annual cost savings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0" dirty="0"/>
              <a:t>Prioritize clear optimization recommendations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b="0" dirty="0"/>
              <a:t>Generate safe remediation proposals for human review</a:t>
            </a:r>
          </a:p>
          <a:p>
            <a:pPr marL="0" indent="0" fontAlgn="t">
              <a:lnSpc>
                <a:spcPct val="100000"/>
              </a:lnSpc>
              <a:buNone/>
            </a:pPr>
            <a:r>
              <a:rPr lang="en-IN" dirty="0"/>
              <a:t>Safety-first approach:</a:t>
            </a:r>
            <a:r>
              <a:rPr lang="en-IN" b="0" dirty="0"/>
              <a:t> No live cloud resources are accessed or modified.</a:t>
            </a:r>
          </a:p>
          <a:p>
            <a:pPr marL="0" lvl="0" indent="0" fontAlgn="t">
              <a:lnSpc>
                <a:spcPct val="100000"/>
              </a:lnSpc>
              <a:buNone/>
            </a:pP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B15DF9-FEC1-6033-766C-3D1AB28C189A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Project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A43BBE8-1C3B-2365-7791-E88E5D603B5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97E32D-C08D-D20C-22B0-73F13BF149E9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</p:txBody>
      </p:sp>
    </p:spTree>
    <p:extLst>
      <p:ext uri="{BB962C8B-B14F-4D97-AF65-F5344CB8AC3E}">
        <p14:creationId xmlns:p14="http://schemas.microsoft.com/office/powerpoint/2010/main" val="20896051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E3D1B-BBD0-E058-A56D-9513DC743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954F55-6D7E-D1C4-498A-ABA59B8D79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751893"/>
          </a:xfrm>
        </p:spPr>
        <p:txBody>
          <a:bodyPr/>
          <a:lstStyle/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Data Validation</a:t>
            </a:r>
            <a:r>
              <a:rPr lang="en-IN" b="0" dirty="0"/>
              <a:t> – Organizes and verifies cloud resource data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Safety Checks</a:t>
            </a:r>
            <a:r>
              <a:rPr lang="en-IN" b="0" dirty="0"/>
              <a:t> – Protects critical and uncertain resources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Policy Analysis</a:t>
            </a:r>
            <a:r>
              <a:rPr lang="en-IN" b="0" dirty="0"/>
              <a:t> – Identifies waste and recommends suitable actions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Savings Estimation</a:t>
            </a:r>
            <a:r>
              <a:rPr lang="en-IN" b="0" dirty="0"/>
              <a:t> – Calculates monthly and annual savings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Portfolio Reporting</a:t>
            </a:r>
            <a:r>
              <a:rPr lang="en-IN" b="0" dirty="0"/>
              <a:t> – Summarizes and prioritizes opportunities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Remediation Proposals</a:t>
            </a:r>
            <a:r>
              <a:rPr lang="en-IN" b="0" dirty="0"/>
              <a:t> – Creates safe proposals for human review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 err="1"/>
              <a:t>Streamlit</a:t>
            </a:r>
            <a:r>
              <a:rPr lang="en-IN" dirty="0"/>
              <a:t> Dashboard</a:t>
            </a:r>
            <a:r>
              <a:rPr lang="en-IN" b="0" dirty="0"/>
              <a:t> – Displays findings, reports, and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C7CEDF-AB67-3C83-A2A6-FEAC09D370C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Key System Components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9921C5E-5F65-5619-FA46-7CBD427513A5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C9D7D51-FC48-1CB1-DBAD-161EB6F390DA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78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AAB35-9CDF-F3E9-AF60-883F085F4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A1E237-04A5-30BA-0120-32491D20A7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49507" y="1271219"/>
            <a:ext cx="10867869" cy="5084230"/>
          </a:xfrm>
        </p:spPr>
        <p:txBody>
          <a:bodyPr/>
          <a:lstStyle/>
          <a:p>
            <a:pPr marL="514350" lvl="0" indent="-514350" fontAlgn="t">
              <a:buFont typeface="+mj-lt"/>
              <a:buAutoNum type="arabicPeriod"/>
            </a:pPr>
            <a:r>
              <a:rPr lang="en-IN" dirty="0"/>
              <a:t>Collect</a:t>
            </a:r>
            <a:r>
              <a:rPr lang="en-IN" b="0" dirty="0"/>
              <a:t> synthetic AWS and Azure resource data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dirty="0"/>
              <a:t>Standardize</a:t>
            </a:r>
            <a:r>
              <a:rPr lang="en-IN" b="0" dirty="0"/>
              <a:t> the data into a common format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dirty="0"/>
              <a:t>Validate</a:t>
            </a:r>
            <a:r>
              <a:rPr lang="en-IN" b="0" dirty="0"/>
              <a:t> the telemetry and optimization policies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dirty="0"/>
              <a:t>Apply safety checks</a:t>
            </a:r>
            <a:r>
              <a:rPr lang="en-IN" b="0" dirty="0"/>
              <a:t> to protect critical resources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dirty="0" err="1"/>
              <a:t>Analyze</a:t>
            </a:r>
            <a:r>
              <a:rPr lang="en-IN" dirty="0"/>
              <a:t> resources</a:t>
            </a:r>
            <a:r>
              <a:rPr lang="en-IN" b="0" dirty="0"/>
              <a:t> for potential cloud waste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dirty="0"/>
              <a:t>Estimate savings</a:t>
            </a:r>
            <a:r>
              <a:rPr lang="en-IN" b="0" dirty="0"/>
              <a:t> and prioritize recommendations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dirty="0"/>
              <a:t>Generate reports</a:t>
            </a:r>
            <a:r>
              <a:rPr lang="en-IN" b="0" dirty="0"/>
              <a:t> for clear decision-making</a:t>
            </a:r>
          </a:p>
          <a:p>
            <a:pPr marL="514350" lvl="0" indent="-514350" fontAlgn="t">
              <a:buFont typeface="+mj-lt"/>
              <a:buAutoNum type="arabicPeriod"/>
            </a:pPr>
            <a:r>
              <a:rPr lang="en-IN" dirty="0"/>
              <a:t>Create safe remediation proposals</a:t>
            </a:r>
            <a:r>
              <a:rPr lang="en-IN" b="0" dirty="0"/>
              <a:t> for human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157C70-1742-1B70-26E1-93B3D114829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Methodology/Modeling Plan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7D9A36-4A7F-5871-B5D8-3E719393FEE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DECBA2E-2574-9653-CA12-2F2871D12403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6603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BE970-0C8C-EE9C-967E-9C4215E7A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8D69507-452C-6064-012D-989B810968D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88538" y="1376150"/>
            <a:ext cx="5305355" cy="4619914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1C4D98"/>
                </a:solidFill>
              </a:rPr>
              <a:t>Safety checks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>
                <a:solidFill>
                  <a:srgbClr val="1C4D98"/>
                </a:solidFill>
              </a:rPr>
              <a:t>Policy analysis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>
                <a:solidFill>
                  <a:srgbClr val="1C4D98"/>
                </a:solidFill>
              </a:rPr>
              <a:t>Savings estimation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>
                <a:solidFill>
                  <a:srgbClr val="1C4D98"/>
                </a:solidFill>
              </a:rPr>
              <a:t>Action recommendation</a:t>
            </a:r>
          </a:p>
          <a:p>
            <a:pPr marL="0" indent="0">
              <a:buNone/>
            </a:pPr>
            <a:r>
              <a:rPr lang="en-IN" dirty="0"/>
              <a:t>    ↓</a:t>
            </a:r>
          </a:p>
          <a:p>
            <a:pPr marL="0" indent="0">
              <a:buNone/>
            </a:pPr>
            <a:r>
              <a:rPr lang="en-IN" dirty="0">
                <a:solidFill>
                  <a:srgbClr val="1C4D98"/>
                </a:solidFill>
              </a:rPr>
              <a:t>Reporting and human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13DDE-1D28-6876-A2D8-A929385BE87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Approach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610F33-9A90-6849-ABEA-74F6DFEBD8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71E02D0B-20E1-65D0-F152-86B2C0F3CE62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  <a:p>
            <a:pPr algn="r"/>
            <a:endParaRPr lang="en-US" dirty="0"/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1EC308CF-D6C5-9CFB-78CF-19C049AB8AAD}"/>
              </a:ext>
            </a:extLst>
          </p:cNvPr>
          <p:cNvSpPr txBox="1">
            <a:spLocks/>
          </p:cNvSpPr>
          <p:nvPr/>
        </p:nvSpPr>
        <p:spPr>
          <a:xfrm>
            <a:off x="6091368" y="1376150"/>
            <a:ext cx="5305355" cy="46199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fontAlgn="t"/>
            <a:r>
              <a:rPr lang="en-IN" b="0" dirty="0"/>
              <a:t>Safety rules always run before optimization</a:t>
            </a:r>
          </a:p>
          <a:p>
            <a:pPr marL="342900" lvl="0" indent="-342900" fontAlgn="t"/>
            <a:r>
              <a:rPr lang="en-IN" b="0" dirty="0"/>
              <a:t>Protected resources receive NO_ACTION</a:t>
            </a:r>
          </a:p>
          <a:p>
            <a:pPr marL="342900" lvl="0" indent="-342900" fontAlgn="t"/>
            <a:r>
              <a:rPr lang="en-IN" b="0" dirty="0"/>
              <a:t>Missing ownership or unclear environments produce REVIEW_REQUIRED</a:t>
            </a:r>
          </a:p>
          <a:p>
            <a:pPr marL="342900" lvl="0" indent="-342900" fontAlgn="t"/>
            <a:r>
              <a:rPr lang="en-IN" b="0" dirty="0"/>
              <a:t>Only confirmed WASTE_DETECTED findings are eligible for remediation</a:t>
            </a:r>
          </a:p>
        </p:txBody>
      </p:sp>
    </p:spTree>
    <p:extLst>
      <p:ext uri="{BB962C8B-B14F-4D97-AF65-F5344CB8AC3E}">
        <p14:creationId xmlns:p14="http://schemas.microsoft.com/office/powerpoint/2010/main" val="8083032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A31AB-FAE9-D22A-A58A-A1EA465532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144DA18-8AAE-2669-1DB0-6B53F23962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29390" y="1271219"/>
            <a:ext cx="9950944" cy="4142989"/>
          </a:xfrm>
        </p:spPr>
        <p:txBody>
          <a:bodyPr/>
          <a:lstStyle/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Python 3.12</a:t>
            </a:r>
            <a:r>
              <a:rPr lang="en-IN" b="0" dirty="0"/>
              <a:t> – Core application and policy logic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 err="1"/>
              <a:t>Pydantic</a:t>
            </a:r>
            <a:r>
              <a:rPr lang="en-IN" b="0" dirty="0"/>
              <a:t> – Data and policy validation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JSON and YAML</a:t>
            </a:r>
            <a:r>
              <a:rPr lang="en-IN" b="0" dirty="0"/>
              <a:t> – Telemetry and policy storage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 err="1"/>
              <a:t>Streamlit</a:t>
            </a:r>
            <a:r>
              <a:rPr lang="en-IN" b="0" dirty="0"/>
              <a:t> – Interactive dashboard and reporting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Jinja2</a:t>
            </a:r>
            <a:r>
              <a:rPr lang="en-IN" b="0" dirty="0"/>
              <a:t> – Safe proposal template generation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/>
              <a:t>Terraform and </a:t>
            </a:r>
            <a:r>
              <a:rPr lang="en-IN" dirty="0" err="1"/>
              <a:t>TFLint</a:t>
            </a:r>
            <a:r>
              <a:rPr lang="en-IN" b="0" dirty="0"/>
              <a:t> – Proposal formatting and validation</a:t>
            </a:r>
          </a:p>
          <a:p>
            <a:pPr marL="342900" lvl="0" indent="-342900" fontAlgn="t">
              <a:lnSpc>
                <a:spcPct val="100000"/>
              </a:lnSpc>
            </a:pPr>
            <a:r>
              <a:rPr lang="en-IN" dirty="0" err="1"/>
              <a:t>Pytest</a:t>
            </a:r>
            <a:r>
              <a:rPr lang="en-IN" dirty="0"/>
              <a:t> and Ruff</a:t>
            </a:r>
            <a:r>
              <a:rPr lang="en-IN" b="0" dirty="0"/>
              <a:t> – Testing and code-quality checks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CE3338-760B-22E3-D48A-03626E1AF0B5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Tools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F210C1E-0C14-7B14-2DF1-233C2855EB7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B2BB8A5C-D981-C32A-FF93-D1D07776E60E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3332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88304-2716-77B6-DD91-0C92B24CF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469D9AC-BB5A-6331-FBE2-317E0F87E5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04657"/>
            <a:ext cx="9773587" cy="4142989"/>
          </a:xfrm>
        </p:spPr>
        <p:txBody>
          <a:bodyPr/>
          <a:lstStyle/>
          <a:p>
            <a:pPr fontAlgn="t">
              <a:buNone/>
            </a:pPr>
            <a:r>
              <a:rPr lang="en-IN" b="0" dirty="0"/>
              <a:t>	• Detected</a:t>
            </a:r>
            <a:r>
              <a:rPr lang="en-IN" dirty="0"/>
              <a:t> actionable optimization opportunities</a:t>
            </a:r>
            <a:r>
              <a:rPr lang="en-IN" b="0" dirty="0"/>
              <a:t>.</a:t>
            </a:r>
            <a:br>
              <a:rPr lang="en-IN" b="0" dirty="0"/>
            </a:br>
            <a:r>
              <a:rPr lang="en-IN" b="0" dirty="0"/>
              <a:t>• Protected</a:t>
            </a:r>
            <a:r>
              <a:rPr lang="en-IN" dirty="0"/>
              <a:t> sensitive resources</a:t>
            </a:r>
            <a:r>
              <a:rPr lang="en-IN" b="0" dirty="0"/>
              <a:t> from remediation.</a:t>
            </a:r>
            <a:br>
              <a:rPr lang="en-IN" b="0" dirty="0"/>
            </a:br>
            <a:r>
              <a:rPr lang="en-IN" b="0" dirty="0"/>
              <a:t>• Escalated</a:t>
            </a:r>
            <a:r>
              <a:rPr lang="en-IN" dirty="0"/>
              <a:t> findings for human review</a:t>
            </a:r>
            <a:r>
              <a:rPr lang="en-IN" b="0" dirty="0"/>
              <a:t>.</a:t>
            </a:r>
            <a:br>
              <a:rPr lang="en-IN" b="0" dirty="0"/>
            </a:br>
            <a:r>
              <a:rPr lang="en-IN" b="0" dirty="0"/>
              <a:t>• Generated prioritized findings and </a:t>
            </a:r>
            <a:r>
              <a:rPr lang="en-IN" dirty="0"/>
              <a:t>downloadable reports.</a:t>
            </a:r>
            <a:br>
              <a:rPr lang="en-IN" b="0" dirty="0"/>
            </a:br>
            <a:r>
              <a:rPr lang="en-IN" b="0" dirty="0"/>
              <a:t>• Produced </a:t>
            </a:r>
            <a:r>
              <a:rPr lang="en-IN" dirty="0"/>
              <a:t>validated, review-only Terraform proposals</a:t>
            </a:r>
            <a:r>
              <a:rPr lang="en-IN" b="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8BF536-C822-AB79-C5F0-D6AF7DD0B596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Results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6946E3-003B-F6FD-C045-7708CFD812C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86BD557E-1608-3B42-001D-B608A4374A1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  <a:p>
            <a:pPr algn="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D2C268-1C25-12B0-33B1-776F283857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05"/>
          <a:stretch>
            <a:fillRect/>
          </a:stretch>
        </p:blipFill>
        <p:spPr>
          <a:xfrm>
            <a:off x="933232" y="3189634"/>
            <a:ext cx="10321322" cy="3180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086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A4772-37AD-BEBE-0892-6E0F115CB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3EF565-8D5A-4C72-869A-249AAD0F1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fontAlgn="t">
              <a:buNone/>
            </a:pPr>
            <a:r>
              <a:rPr lang="en-IN" dirty="0"/>
              <a:t>Conclusion</a:t>
            </a:r>
            <a:br>
              <a:rPr lang="en-IN" b="0" dirty="0"/>
            </a:br>
            <a:r>
              <a:rPr lang="en-IN" b="0" dirty="0"/>
              <a:t>The project demonstrates how a deterministic, safety-constrained FinOps agent can </a:t>
            </a:r>
            <a:r>
              <a:rPr lang="en-IN" b="0" dirty="0" err="1"/>
              <a:t>analyze</a:t>
            </a:r>
            <a:r>
              <a:rPr lang="en-IN" b="0" dirty="0"/>
              <a:t> multi-cloud telemetry, protect critical resources, prioritize savings opportunities, and produce validated remediation proposals for human review.</a:t>
            </a:r>
          </a:p>
          <a:p>
            <a:pPr fontAlgn="t">
              <a:buNone/>
            </a:pPr>
            <a:r>
              <a:rPr lang="en-IN" dirty="0"/>
              <a:t>Future Work</a:t>
            </a:r>
            <a:br>
              <a:rPr lang="en-IN" b="0" dirty="0"/>
            </a:br>
            <a:r>
              <a:rPr lang="en-IN" b="0" dirty="0"/>
              <a:t>• Connect to live read-only AWS and Azure data sources.</a:t>
            </a:r>
            <a:br>
              <a:rPr lang="en-IN" b="0" dirty="0"/>
            </a:br>
            <a:r>
              <a:rPr lang="en-IN" b="0" dirty="0"/>
              <a:t>• Improve pricing accuracy and policy coverage.</a:t>
            </a:r>
            <a:br>
              <a:rPr lang="en-IN" b="0" dirty="0"/>
            </a:br>
            <a:r>
              <a:rPr lang="en-IN" b="0" dirty="0"/>
              <a:t>• Add more cloud resource types and optimization rules.</a:t>
            </a:r>
            <a:br>
              <a:rPr lang="en-IN" b="0" dirty="0"/>
            </a:br>
            <a:r>
              <a:rPr lang="en-IN" b="0" dirty="0"/>
              <a:t>• Integrate organizational approval workflows.</a:t>
            </a:r>
            <a:br>
              <a:rPr lang="en-IN" b="0" dirty="0"/>
            </a:br>
            <a:r>
              <a:rPr lang="en-IN" b="0" dirty="0"/>
              <a:t>• Containerize and deploy the </a:t>
            </a:r>
            <a:r>
              <a:rPr lang="en-IN" b="0" dirty="0" err="1"/>
              <a:t>Streamlit</a:t>
            </a:r>
            <a:r>
              <a:rPr lang="en-IN" b="0" dirty="0"/>
              <a:t> application.</a:t>
            </a:r>
            <a:br>
              <a:rPr lang="en-IN" b="0" dirty="0"/>
            </a:br>
            <a:r>
              <a:rPr lang="en-IN" b="0" dirty="0"/>
              <a:t>• Add CI validation using GitHub Actions.</a:t>
            </a:r>
            <a:br>
              <a:rPr lang="en-IN" b="0" dirty="0"/>
            </a:br>
            <a:r>
              <a:rPr lang="en-IN" b="0" dirty="0"/>
              <a:t>• Evaluate controlled AI summaries for explainability.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6F09EA-5B59-B9E7-9820-07DF874EC34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Conclusion &amp;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7830DD-0FB3-22D7-D240-CF22ECBC6E8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45AA7D3-2351-30B5-C695-C11658D91B8D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</p:txBody>
      </p:sp>
    </p:spTree>
    <p:extLst>
      <p:ext uri="{BB962C8B-B14F-4D97-AF65-F5344CB8AC3E}">
        <p14:creationId xmlns:p14="http://schemas.microsoft.com/office/powerpoint/2010/main" val="14597737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F9C44-5860-B07C-E481-5F9551867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09F59F6-0D69-6B64-F8C4-517E3CFA67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9586" y="1271219"/>
            <a:ext cx="10250747" cy="4142989"/>
          </a:xfrm>
        </p:spPr>
        <p:txBody>
          <a:bodyPr/>
          <a:lstStyle/>
          <a:p>
            <a:pPr fontAlgn="t">
              <a:buNone/>
            </a:pPr>
            <a:endParaRPr lang="en-IN" sz="2400" b="0" dirty="0"/>
          </a:p>
          <a:p>
            <a:pPr fontAlgn="t">
              <a:buNone/>
            </a:pPr>
            <a:r>
              <a:rPr lang="en-IN" sz="2400" b="0" dirty="0"/>
              <a:t>I sincerely thank my Project Mentor for the guidance and support provided throughout the project.</a:t>
            </a:r>
          </a:p>
          <a:p>
            <a:pPr fontAlgn="t">
              <a:buNone/>
            </a:pPr>
            <a:endParaRPr lang="en-IN" sz="2400" b="0" dirty="0"/>
          </a:p>
          <a:p>
            <a:pPr fontAlgn="t">
              <a:buNone/>
            </a:pPr>
            <a:r>
              <a:rPr lang="en-IN" sz="2400" b="0" dirty="0"/>
              <a:t>I would also like to thank the Classroom Coordinators, Faculty Members, and the institution for their valuable support and encouragement.</a:t>
            </a:r>
          </a:p>
          <a:p>
            <a:pPr fontAlgn="t">
              <a:buNone/>
            </a:pPr>
            <a:endParaRPr lang="en-IN" sz="2400" b="0" dirty="0"/>
          </a:p>
          <a:p>
            <a:pPr fontAlgn="t">
              <a:buNone/>
            </a:pPr>
            <a:r>
              <a:rPr lang="en-IN" sz="2400" b="0" dirty="0"/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780EE49-5369-3B47-B137-B7E6446007E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Acknowledgements</a:t>
            </a: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 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08CF572-143A-744F-9D5B-61462FE108CA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CB6510D-1EFB-8D2D-0FF3-30A6E8981917}"/>
              </a:ext>
            </a:extLst>
          </p:cNvPr>
          <p:cNvSpPr txBox="1"/>
          <p:nvPr/>
        </p:nvSpPr>
        <p:spPr>
          <a:xfrm>
            <a:off x="6093893" y="57036"/>
            <a:ext cx="60981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  <a:p>
            <a:pPr algn="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80451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AC3DC-65DD-A23D-9CB6-64FB1B1C4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0D3BFE-BAA8-D57F-63E9-1013DD4199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5655" y="1234637"/>
            <a:ext cx="10776475" cy="5139832"/>
          </a:xfrm>
        </p:spPr>
        <p:txBody>
          <a:bodyPr/>
          <a:lstStyle/>
          <a:p>
            <a:pPr marL="342900" lvl="0" indent="-342900" fontAlgn="t"/>
            <a:r>
              <a:rPr lang="en-IN" b="0" dirty="0"/>
              <a:t>S. Deochake, “Cloud Cost Optimization: A Comprehensive Review of Strategies and Case Studies,” 2023. DOI: 10.2139.</a:t>
            </a:r>
          </a:p>
          <a:p>
            <a:pPr marL="342900" lvl="0" indent="-342900" fontAlgn="t"/>
            <a:r>
              <a:rPr lang="en-IN" b="0" dirty="0"/>
              <a:t>S. Deochake, “ABACUS: A FinOps Service for Cloud Cost Optimization,” 2024. DOI: 10.48550.</a:t>
            </a:r>
          </a:p>
          <a:p>
            <a:pPr marL="342900" indent="-342900" fontAlgn="t"/>
            <a:r>
              <a:rPr lang="en-IN" b="0" dirty="0"/>
              <a:t>N. P. A. Vo, M. </a:t>
            </a:r>
            <a:r>
              <a:rPr lang="en-IN" b="0" dirty="0" err="1"/>
              <a:t>Kesarwani</a:t>
            </a:r>
            <a:r>
              <a:rPr lang="en-IN" b="0" dirty="0"/>
              <a:t>, R. </a:t>
            </a:r>
            <a:r>
              <a:rPr lang="en-IN" b="0" dirty="0" err="1"/>
              <a:t>Mahindru</a:t>
            </a:r>
            <a:r>
              <a:rPr lang="en-IN" b="0" dirty="0"/>
              <a:t>, and C. Narayanaswami, “FinOps Agent: A Use-Case for IT Infrastructure and Cost Optimization,” 2025. DOI: 10.48550.</a:t>
            </a:r>
          </a:p>
          <a:p>
            <a:pPr marL="342900" indent="-342900" fontAlgn="t"/>
            <a:r>
              <a:rPr lang="en-IN" b="0" dirty="0"/>
              <a:t>V. Sivakumaran, “FinOps and Observability: Optimizing Cloud Resource Management for Cost Efficiency,” </a:t>
            </a:r>
            <a:r>
              <a:rPr lang="en-IN" b="0" i="1" dirty="0"/>
              <a:t>International Journal of Research in Computer Applications and Information Technology</a:t>
            </a:r>
            <a:r>
              <a:rPr lang="en-IN" b="0" dirty="0"/>
              <a:t>, vol. 8, no. 1, pp. 368–382, 2025. DOI: 10.34218.</a:t>
            </a:r>
            <a:br>
              <a:rPr lang="en-IN" b="0" dirty="0"/>
            </a:br>
            <a:endParaRPr lang="en-IN" b="0" dirty="0"/>
          </a:p>
          <a:p>
            <a:pPr marL="342900" indent="-342900" fontAlgn="t"/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235DFE-EC4A-1C7F-A877-AC7990C625A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ACA787-78E4-B56D-97FB-606DE363E95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EF4F998-4319-1D82-8DBE-EAAECB1AF38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</p:txBody>
      </p:sp>
    </p:spTree>
    <p:extLst>
      <p:ext uri="{BB962C8B-B14F-4D97-AF65-F5344CB8AC3E}">
        <p14:creationId xmlns:p14="http://schemas.microsoft.com/office/powerpoint/2010/main" val="26437641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6AC6A-BC04-7CCA-300B-E28223C93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C44E8B-D717-2D88-C740-31803E687DF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M. Upreti and O. Oteri, “Analytical Model for Optimizing Cloud Resource Allocation through Rightsizing and Long-Term Usage Forecasting,” </a:t>
            </a:r>
            <a:r>
              <a:rPr lang="en-IN" b="0" i="1" dirty="0" err="1"/>
              <a:t>Gyanshauryam</a:t>
            </a:r>
            <a:r>
              <a:rPr lang="en-IN" b="0" i="1" dirty="0"/>
              <a:t> International Scientific Refereed Research Journal</a:t>
            </a:r>
            <a:r>
              <a:rPr lang="en-IN" b="0" dirty="0"/>
              <a:t>, 2023.</a:t>
            </a:r>
          </a:p>
          <a:p>
            <a:pPr marL="342900" indent="-342900" fontAlgn="t"/>
            <a:r>
              <a:rPr lang="en-IN" b="0" dirty="0"/>
              <a:t>I. Pintye, J. Kovács, and R. Lovas, “Enhancing Machine Learning-Based Autoscaling for Cloud Resource Orchestration,” </a:t>
            </a:r>
            <a:r>
              <a:rPr lang="en-IN" b="0" i="1" dirty="0"/>
              <a:t>Journal of Grid Computing</a:t>
            </a:r>
            <a:r>
              <a:rPr lang="en-IN" b="0" dirty="0"/>
              <a:t>, 2024. DOI: 10.1007.</a:t>
            </a:r>
          </a:p>
          <a:p>
            <a:pPr marL="342900" indent="-342900" fontAlgn="t"/>
            <a:r>
              <a:rPr lang="en-IN" b="0" dirty="0"/>
              <a:t>S. Ponnusamy and M. </a:t>
            </a:r>
            <a:r>
              <a:rPr lang="en-IN" b="0" dirty="0" err="1"/>
              <a:t>Khoje</a:t>
            </a:r>
            <a:r>
              <a:rPr lang="en-IN" b="0" dirty="0"/>
              <a:t>, “Optimizing Cloud Costs with Machine Learning: Predictive Resource Scaling Strategies,” in </a:t>
            </a:r>
            <a:r>
              <a:rPr lang="en-IN" b="0" i="1" dirty="0"/>
              <a:t>2024 5th International Conference on Innovative Trends in Information Technology</a:t>
            </a:r>
            <a:r>
              <a:rPr lang="en-IN" b="0" dirty="0"/>
              <a:t>, 2024. DOI: 10.1109.</a:t>
            </a:r>
            <a:br>
              <a:rPr lang="en-IN" b="0" dirty="0"/>
            </a:b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AFD774-E7B5-E5DD-C742-860606949047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lang="en-US" sz="3600" b="1" dirty="0">
              <a:solidFill>
                <a:srgbClr val="5B9BD5">
                  <a:lumMod val="50000"/>
                </a:srgb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E22539-BF82-984D-4B76-45D99EC43051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C714B8-2B4C-11CC-5DAB-4A4885731B2E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</p:txBody>
      </p:sp>
    </p:spTree>
    <p:extLst>
      <p:ext uri="{BB962C8B-B14F-4D97-AF65-F5344CB8AC3E}">
        <p14:creationId xmlns:p14="http://schemas.microsoft.com/office/powerpoint/2010/main" val="26001595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B8786-00FB-78EC-B8D3-643FDFE9C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C2E52B-2581-192A-0300-36FED8471A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N. K and G. A. Kumar, “Recent Improvements in Cloud Resource Optimization with Dynamic Workloads using Machine Learning,” in </a:t>
            </a:r>
            <a:r>
              <a:rPr lang="en-IN" b="0" i="1" dirty="0"/>
              <a:t>Proceedings of the 5th International Conference on Communication and Information Processing</a:t>
            </a:r>
            <a:r>
              <a:rPr lang="en-IN" b="0" dirty="0"/>
              <a:t>, 2023.</a:t>
            </a:r>
          </a:p>
          <a:p>
            <a:pPr marL="342900" indent="-342900" fontAlgn="t"/>
            <a:r>
              <a:rPr lang="en-IN" b="0" dirty="0"/>
              <a:t>P. Gaba, Himanshu, </a:t>
            </a:r>
            <a:r>
              <a:rPr lang="en-IN" b="0" dirty="0" err="1"/>
              <a:t>Preetitanya</a:t>
            </a:r>
            <a:r>
              <a:rPr lang="en-IN" b="0" dirty="0"/>
              <a:t>, and Y. Gupta, “Unlocking Efficiency: Multidimensional Cost Optimization Strategies for Cloud Infrastructure in Small and Medium-Sized Organizations,” 2023. DOI: 10.1109.</a:t>
            </a:r>
          </a:p>
          <a:p>
            <a:pPr marL="342900" indent="-342900" fontAlgn="t"/>
            <a:r>
              <a:rPr lang="en-IN" b="0" dirty="0"/>
              <a:t>“Cost Modelling and Optimisation for Cloud: A Graph-Based Approach,” 2024. DOI: 10.1186.</a:t>
            </a:r>
          </a:p>
          <a:p>
            <a:pPr marL="342900" indent="-342900" fontAlgn="t"/>
            <a:r>
              <a:rPr lang="en-IN" b="0" dirty="0"/>
              <a:t>A. </a:t>
            </a:r>
            <a:r>
              <a:rPr lang="en-IN" b="0" dirty="0" err="1"/>
              <a:t>Verdet</a:t>
            </a:r>
            <a:r>
              <a:rPr lang="en-IN" b="0" dirty="0"/>
              <a:t>, M. </a:t>
            </a:r>
            <a:r>
              <a:rPr lang="en-IN" b="0" dirty="0" err="1"/>
              <a:t>Hamdaqa</a:t>
            </a:r>
            <a:r>
              <a:rPr lang="en-IN" b="0" dirty="0"/>
              <a:t>, L. Da Silva, and F. </a:t>
            </a:r>
            <a:r>
              <a:rPr lang="en-IN" b="0" dirty="0" err="1"/>
              <a:t>Khomh</a:t>
            </a:r>
            <a:r>
              <a:rPr lang="en-IN" b="0" dirty="0"/>
              <a:t>, “Exploring Security Practices in Infrastructure as Code: An Empirical Study,” 2023, associated journal DOI: 10.1007.</a:t>
            </a:r>
            <a:br>
              <a:rPr lang="en-IN" b="0" dirty="0"/>
            </a:br>
            <a:endParaRPr lang="en-IN" b="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7993BE-9C15-BED5-9B17-0A00CFAA4DC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FCDB0FE-1CD1-2EE6-1C64-0A0D24717E6B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5E81E5C-F7A1-E85D-AC48-BEB6E8416307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</p:txBody>
      </p:sp>
    </p:spTree>
    <p:extLst>
      <p:ext uri="{BB962C8B-B14F-4D97-AF65-F5344CB8AC3E}">
        <p14:creationId xmlns:p14="http://schemas.microsoft.com/office/powerpoint/2010/main" val="5183487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A75D9-FFA2-CD12-0BD8-2DAC840FC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6CE5AE7-7ACE-1AA8-AAC5-9177CCA072D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3042" y="1234637"/>
            <a:ext cx="10941702" cy="5139832"/>
          </a:xfrm>
        </p:spPr>
        <p:txBody>
          <a:bodyPr/>
          <a:lstStyle/>
          <a:p>
            <a:pPr marL="342900" indent="-342900" fontAlgn="t"/>
            <a:r>
              <a:rPr lang="en-IN" b="0" dirty="0"/>
              <a:t>M. Caracciolo, “Policy as Code: How to Automate Cloud Compliance Verification with Open-Source Tools,” Master’s thesis, </a:t>
            </a:r>
            <a:r>
              <a:rPr lang="en-IN" b="0" dirty="0" err="1"/>
              <a:t>Politecnico</a:t>
            </a:r>
            <a:r>
              <a:rPr lang="en-IN" b="0" dirty="0"/>
              <a:t> di Torino, 2023.</a:t>
            </a:r>
          </a:p>
          <a:p>
            <a:pPr marL="342900" indent="-342900" fontAlgn="t"/>
            <a:r>
              <a:rPr lang="en-IN" b="0" dirty="0"/>
              <a:t>F. Romeo et al., “</a:t>
            </a:r>
            <a:r>
              <a:rPr lang="en-IN" b="0" dirty="0" err="1"/>
              <a:t>ARPaCCino</a:t>
            </a:r>
            <a:r>
              <a:rPr lang="en-IN" b="0" dirty="0"/>
              <a:t>: An Agentic-RAG for Policy as Code Compliance,” </a:t>
            </a:r>
            <a:r>
              <a:rPr lang="en-IN" b="0" dirty="0" err="1"/>
              <a:t>arXiv</a:t>
            </a:r>
            <a:r>
              <a:rPr lang="en-IN" b="0" dirty="0"/>
              <a:t>, 2025. </a:t>
            </a:r>
          </a:p>
          <a:p>
            <a:pPr marL="342900" indent="-342900" fontAlgn="t"/>
            <a:r>
              <a:rPr lang="en-IN" b="0" dirty="0"/>
              <a:t>D. Saxena and A. K. Singh, “A Comprehensive Survey on Sustainable Resource Management in Cloud Computing Environments,” 2024.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C0287-8316-5D36-B4D4-447611971B73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8AD7D3F-2748-7E1F-3BD8-E80BD51AF71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39D05DD-414E-06DB-D9D8-CCE764E8B018}"/>
              </a:ext>
            </a:extLst>
          </p:cNvPr>
          <p:cNvSpPr txBox="1"/>
          <p:nvPr/>
        </p:nvSpPr>
        <p:spPr>
          <a:xfrm>
            <a:off x="6093893" y="57036"/>
            <a:ext cx="6098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i="1" dirty="0">
                <a:solidFill>
                  <a:srgbClr val="FFFFFF"/>
                </a:solidFill>
              </a:rPr>
              <a:t>Autonomous Cloud FinOps Remediation Agent</a:t>
            </a:r>
          </a:p>
        </p:txBody>
      </p:sp>
    </p:spTree>
    <p:extLst>
      <p:ext uri="{BB962C8B-B14F-4D97-AF65-F5344CB8AC3E}">
        <p14:creationId xmlns:p14="http://schemas.microsoft.com/office/powerpoint/2010/main" val="4008423388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1915</TotalTime>
  <Words>2007</Words>
  <Application>Microsoft Office PowerPoint</Application>
  <PresentationFormat>Widescreen</PresentationFormat>
  <Paragraphs>239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Daniel Robin</cp:lastModifiedBy>
  <cp:revision>20</cp:revision>
  <dcterms:created xsi:type="dcterms:W3CDTF">2024-05-13T10:33:11Z</dcterms:created>
  <dcterms:modified xsi:type="dcterms:W3CDTF">2026-10-09T09:15:05Z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